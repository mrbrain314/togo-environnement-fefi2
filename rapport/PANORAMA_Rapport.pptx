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126" y="6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7C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566928"/>
            <a:ext cx="1051560" cy="105156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ogo.jpg"/>
          <p:cNvPicPr>
            <a:picLocks noChangeAspect="1"/>
          </p:cNvPicPr>
          <p:nvPr/>
        </p:nvPicPr>
        <p:blipFill>
          <a:blip r:embed="rId2"/>
          <a:stretch>
            <a:fillRect/>
          </a:stretch>
        </p:blipFill>
        <p:spPr>
          <a:xfrm>
            <a:off x="713232" y="640080"/>
            <a:ext cx="905256" cy="905256"/>
          </a:xfrm>
          <a:prstGeom prst="rect">
            <a:avLst/>
          </a:prstGeom>
        </p:spPr>
      </p:pic>
      <p:sp>
        <p:nvSpPr>
          <p:cNvPr id="5" name="TextBox 4"/>
          <p:cNvSpPr txBox="1"/>
          <p:nvPr/>
        </p:nvSpPr>
        <p:spPr>
          <a:xfrm>
            <a:off x="1965960" y="822960"/>
            <a:ext cx="8229600" cy="365760"/>
          </a:xfrm>
          <a:prstGeom prst="rect">
            <a:avLst/>
          </a:prstGeom>
          <a:noFill/>
        </p:spPr>
        <p:txBody>
          <a:bodyPr wrap="square" lIns="0" tIns="0" rIns="0" bIns="0" anchor="t">
            <a:spAutoFit/>
          </a:bodyPr>
          <a:lstStyle/>
          <a:p>
            <a:pPr algn="l">
              <a:lnSpc>
                <a:spcPct val="102000"/>
              </a:lnSpc>
              <a:spcBef>
                <a:spcPts val="0"/>
              </a:spcBef>
              <a:spcAft>
                <a:spcPts val="400"/>
              </a:spcAft>
            </a:pPr>
            <a:r>
              <a:rPr sz="1300" b="1" i="0">
                <a:solidFill>
                  <a:srgbClr val="FFCE00"/>
                </a:solidFill>
                <a:latin typeface="Calibri"/>
              </a:rPr>
              <a:t>DATA CHALLENGE ENVIRONNEMENT  ·  DÉFI 2</a:t>
            </a:r>
          </a:p>
        </p:txBody>
      </p:sp>
      <p:sp>
        <p:nvSpPr>
          <p:cNvPr id="6" name="TextBox 5"/>
          <p:cNvSpPr txBox="1"/>
          <p:nvPr/>
        </p:nvSpPr>
        <p:spPr>
          <a:xfrm>
            <a:off x="1947672" y="1170432"/>
            <a:ext cx="9144000" cy="457200"/>
          </a:xfrm>
          <a:prstGeom prst="rect">
            <a:avLst/>
          </a:prstGeom>
          <a:noFill/>
        </p:spPr>
        <p:txBody>
          <a:bodyPr wrap="square" lIns="0" tIns="0" rIns="0" bIns="0" anchor="t">
            <a:spAutoFit/>
          </a:bodyPr>
          <a:lstStyle/>
          <a:p>
            <a:pPr algn="l">
              <a:lnSpc>
                <a:spcPct val="102000"/>
              </a:lnSpc>
              <a:spcBef>
                <a:spcPts val="0"/>
              </a:spcBef>
              <a:spcAft>
                <a:spcPts val="400"/>
              </a:spcAft>
            </a:pPr>
            <a:r>
              <a:rPr sz="1200" b="0" i="0">
                <a:solidFill>
                  <a:srgbClr val="CFE6D8"/>
                </a:solidFill>
                <a:latin typeface="Calibri"/>
              </a:rPr>
              <a:t>Développé par Bastou OURO-TAGBA</a:t>
            </a:r>
          </a:p>
        </p:txBody>
      </p:sp>
      <p:sp>
        <p:nvSpPr>
          <p:cNvPr id="7" name="TextBox 6"/>
          <p:cNvSpPr txBox="1"/>
          <p:nvPr/>
        </p:nvSpPr>
        <p:spPr>
          <a:xfrm>
            <a:off x="640080" y="2468880"/>
            <a:ext cx="10972800" cy="1371600"/>
          </a:xfrm>
          <a:prstGeom prst="rect">
            <a:avLst/>
          </a:prstGeom>
          <a:noFill/>
        </p:spPr>
        <p:txBody>
          <a:bodyPr wrap="square" lIns="0" tIns="0" rIns="0" bIns="0" anchor="t">
            <a:spAutoFit/>
          </a:bodyPr>
          <a:lstStyle/>
          <a:p>
            <a:pPr algn="l">
              <a:lnSpc>
                <a:spcPct val="102000"/>
              </a:lnSpc>
              <a:spcBef>
                <a:spcPts val="0"/>
              </a:spcBef>
              <a:spcAft>
                <a:spcPts val="400"/>
              </a:spcAft>
            </a:pPr>
            <a:r>
              <a:rPr sz="7600" b="1" i="0">
                <a:solidFill>
                  <a:srgbClr val="FFFFFF"/>
                </a:solidFill>
                <a:latin typeface="Cambria"/>
              </a:rPr>
              <a:t>PANORAMA</a:t>
            </a:r>
          </a:p>
        </p:txBody>
      </p:sp>
      <p:sp>
        <p:nvSpPr>
          <p:cNvPr id="8" name="TextBox 7"/>
          <p:cNvSpPr txBox="1"/>
          <p:nvPr/>
        </p:nvSpPr>
        <p:spPr>
          <a:xfrm>
            <a:off x="658368" y="3703320"/>
            <a:ext cx="10515600" cy="731520"/>
          </a:xfrm>
          <a:prstGeom prst="rect">
            <a:avLst/>
          </a:prstGeom>
          <a:noFill/>
        </p:spPr>
        <p:txBody>
          <a:bodyPr wrap="square" lIns="0" tIns="0" rIns="0" bIns="0" anchor="t">
            <a:spAutoFit/>
          </a:bodyPr>
          <a:lstStyle/>
          <a:p>
            <a:pPr algn="l">
              <a:lnSpc>
                <a:spcPct val="102000"/>
              </a:lnSpc>
              <a:spcBef>
                <a:spcPts val="0"/>
              </a:spcBef>
              <a:spcAft>
                <a:spcPts val="400"/>
              </a:spcAft>
            </a:pPr>
            <a:r>
              <a:rPr sz="3000" b="1" i="0">
                <a:solidFill>
                  <a:srgbClr val="FFFFFF"/>
                </a:solidFill>
                <a:latin typeface="Calibri"/>
              </a:rPr>
              <a:t>Énergie </a:t>
            </a:r>
            <a:r>
              <a:rPr sz="3000" b="1" i="0">
                <a:solidFill>
                  <a:srgbClr val="FFCE00"/>
                </a:solidFill>
                <a:latin typeface="Calibri"/>
              </a:rPr>
              <a:t>&amp;</a:t>
            </a:r>
            <a:r>
              <a:rPr sz="3000" b="1" i="0">
                <a:solidFill>
                  <a:srgbClr val="FFFFFF"/>
                </a:solidFill>
                <a:latin typeface="Calibri"/>
              </a:rPr>
              <a:t> transition écologique au Togo</a:t>
            </a:r>
          </a:p>
        </p:txBody>
      </p:sp>
      <p:sp>
        <p:nvSpPr>
          <p:cNvPr id="9" name="TextBox 8"/>
          <p:cNvSpPr txBox="1"/>
          <p:nvPr/>
        </p:nvSpPr>
        <p:spPr>
          <a:xfrm>
            <a:off x="676656" y="4434840"/>
            <a:ext cx="10058400" cy="548640"/>
          </a:xfrm>
          <a:prstGeom prst="rect">
            <a:avLst/>
          </a:prstGeom>
          <a:noFill/>
        </p:spPr>
        <p:txBody>
          <a:bodyPr wrap="square" lIns="0" tIns="0" rIns="0" bIns="0" anchor="t">
            <a:spAutoFit/>
          </a:bodyPr>
          <a:lstStyle/>
          <a:p>
            <a:pPr algn="l">
              <a:lnSpc>
                <a:spcPct val="102000"/>
              </a:lnSpc>
              <a:spcBef>
                <a:spcPts val="0"/>
              </a:spcBef>
              <a:spcAft>
                <a:spcPts val="400"/>
              </a:spcAft>
            </a:pPr>
            <a:r>
              <a:rPr sz="2000" b="0" i="1">
                <a:solidFill>
                  <a:srgbClr val="DCEAE0"/>
                </a:solidFill>
                <a:latin typeface="Calibri"/>
              </a:rPr>
              <a:t>Électrifier sans déforester</a:t>
            </a:r>
          </a:p>
        </p:txBody>
      </p:sp>
      <p:sp>
        <p:nvSpPr>
          <p:cNvPr id="10" name="TextBox 9"/>
          <p:cNvSpPr txBox="1"/>
          <p:nvPr/>
        </p:nvSpPr>
        <p:spPr>
          <a:xfrm>
            <a:off x="658368" y="6035040"/>
            <a:ext cx="10972800" cy="365760"/>
          </a:xfrm>
          <a:prstGeom prst="rect">
            <a:avLst/>
          </a:prstGeom>
          <a:noFill/>
        </p:spPr>
        <p:txBody>
          <a:bodyPr wrap="square" lIns="0" tIns="0" rIns="0" bIns="0" anchor="t">
            <a:spAutoFit/>
          </a:bodyPr>
          <a:lstStyle/>
          <a:p>
            <a:pPr algn="l">
              <a:lnSpc>
                <a:spcPct val="102000"/>
              </a:lnSpc>
              <a:spcBef>
                <a:spcPts val="0"/>
              </a:spcBef>
              <a:spcAft>
                <a:spcPts val="400"/>
              </a:spcAft>
            </a:pPr>
            <a:r>
              <a:rPr sz="1200" b="0" i="0">
                <a:solidFill>
                  <a:srgbClr val="B8D8C6"/>
                </a:solidFill>
                <a:latin typeface="Calibri"/>
              </a:rPr>
              <a:t>Togo AI Lab / MESPTN  ·  Données ouvertes opendata.gouv.tg (WDI, Banque mondiale)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7315200" cy="640080"/>
          </a:xfrm>
          <a:prstGeom prst="rect">
            <a:avLst/>
          </a:prstGeom>
          <a:noFill/>
        </p:spPr>
        <p:txBody>
          <a:bodyPr wrap="square" lIns="0" tIns="0" rIns="0" bIns="0" anchor="t">
            <a:spAutoFit/>
          </a:bodyPr>
          <a:lstStyle/>
          <a:p>
            <a:pPr algn="l">
              <a:lnSpc>
                <a:spcPct val="102000"/>
              </a:lnSpc>
              <a:spcBef>
                <a:spcPts val="0"/>
              </a:spcBef>
              <a:spcAft>
                <a:spcPts val="400"/>
              </a:spcAft>
            </a:pPr>
            <a:r>
              <a:rPr sz="3400" b="1" i="0">
                <a:solidFill>
                  <a:srgbClr val="16251A"/>
                </a:solidFill>
                <a:latin typeface="Cambria"/>
              </a:rPr>
              <a:t>Le contexte</a:t>
            </a:r>
          </a:p>
        </p:txBody>
      </p:sp>
      <p:sp>
        <p:nvSpPr>
          <p:cNvPr id="4" name="TextBox 3"/>
          <p:cNvSpPr txBox="1"/>
          <p:nvPr/>
        </p:nvSpPr>
        <p:spPr>
          <a:xfrm>
            <a:off x="640080" y="1143000"/>
            <a:ext cx="649224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0" i="0">
                <a:solidFill>
                  <a:srgbClr val="5E685C"/>
                </a:solidFill>
                <a:latin typeface="Calibri"/>
              </a:rPr>
              <a:t>Électrifier tout le pays d'ici 2030, sans sacrifier la forêt</a:t>
            </a:r>
          </a:p>
        </p:txBody>
      </p:sp>
      <p:sp>
        <p:nvSpPr>
          <p:cNvPr id="5" name="TextBox 4"/>
          <p:cNvSpPr txBox="1"/>
          <p:nvPr/>
        </p:nvSpPr>
        <p:spPr>
          <a:xfrm>
            <a:off x="640080" y="1828800"/>
            <a:ext cx="6537960" cy="4206240"/>
          </a:xfrm>
          <a:prstGeom prst="rect">
            <a:avLst/>
          </a:prstGeom>
          <a:noFill/>
        </p:spPr>
        <p:txBody>
          <a:bodyPr wrap="square" lIns="0" tIns="0" rIns="0" bIns="0" anchor="t">
            <a:spAutoFit/>
          </a:bodyPr>
          <a:lstStyle/>
          <a:p>
            <a:pPr algn="l">
              <a:lnSpc>
                <a:spcPct val="108000"/>
              </a:lnSpc>
              <a:spcBef>
                <a:spcPts val="0"/>
              </a:spcBef>
              <a:spcAft>
                <a:spcPts val="1200"/>
              </a:spcAft>
            </a:pPr>
            <a:r>
              <a:rPr sz="1400" b="1" i="0">
                <a:solidFill>
                  <a:srgbClr val="0A7C46"/>
                </a:solidFill>
                <a:latin typeface="Calibri"/>
              </a:rPr>
              <a:t>L'ambition.  </a:t>
            </a:r>
            <a:r>
              <a:rPr sz="1400" b="0" i="0">
                <a:solidFill>
                  <a:srgbClr val="16251A"/>
                </a:solidFill>
                <a:latin typeface="Calibri"/>
              </a:rPr>
              <a:t>Le Togo vise l'accès universel à l'électricité en 2030, tout en développant les énergies propres et en protégeant son environnement.</a:t>
            </a:r>
          </a:p>
          <a:p>
            <a:pPr algn="l">
              <a:lnSpc>
                <a:spcPct val="108000"/>
              </a:lnSpc>
              <a:spcBef>
                <a:spcPts val="0"/>
              </a:spcBef>
              <a:spcAft>
                <a:spcPts val="1200"/>
              </a:spcAft>
            </a:pPr>
            <a:r>
              <a:rPr sz="1400" b="1" i="0">
                <a:solidFill>
                  <a:srgbClr val="D21034"/>
                </a:solidFill>
                <a:latin typeface="Calibri"/>
              </a:rPr>
              <a:t>Le contraste.  </a:t>
            </a:r>
            <a:r>
              <a:rPr sz="1400" b="0" i="0">
                <a:solidFill>
                  <a:srgbClr val="16251A"/>
                </a:solidFill>
                <a:latin typeface="Calibri"/>
              </a:rPr>
              <a:t>Les villes sont bien électrifiées, les campagnes très en retard. Et l'immense majorité des ménages cuisine encore au bois et au charbon, ce qui pèse sur des forêts déjà fragilisées par la hausse des températures.</a:t>
            </a:r>
          </a:p>
          <a:p>
            <a:pPr algn="l">
              <a:lnSpc>
                <a:spcPct val="108000"/>
              </a:lnSpc>
              <a:spcBef>
                <a:spcPts val="0"/>
              </a:spcBef>
              <a:spcAft>
                <a:spcPts val="1200"/>
              </a:spcAft>
            </a:pPr>
            <a:r>
              <a:rPr sz="1400" b="1" i="0">
                <a:solidFill>
                  <a:srgbClr val="16251A"/>
                </a:solidFill>
                <a:latin typeface="Calibri"/>
              </a:rPr>
              <a:t>La question.  </a:t>
            </a:r>
            <a:r>
              <a:rPr sz="1400" b="0" i="0">
                <a:solidFill>
                  <a:srgbClr val="16251A"/>
                </a:solidFill>
                <a:latin typeface="Calibri"/>
              </a:rPr>
              <a:t>Comment apporter l'électricité dans les villages, développer les énergies propres et protéger les forêts, à partir des données ?</a:t>
            </a:r>
          </a:p>
        </p:txBody>
      </p:sp>
      <p:sp>
        <p:nvSpPr>
          <p:cNvPr id="6" name="Rounded Rectangle 5"/>
          <p:cNvSpPr/>
          <p:nvPr/>
        </p:nvSpPr>
        <p:spPr>
          <a:xfrm>
            <a:off x="7543800" y="1554480"/>
            <a:ext cx="4023360" cy="4754880"/>
          </a:xfrm>
          <a:prstGeom prst="roundRect">
            <a:avLst>
              <a:gd name="adj" fmla="val 6000"/>
            </a:avLst>
          </a:prstGeom>
          <a:solidFill>
            <a:srgbClr val="F3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0" y="1828800"/>
            <a:ext cx="3474720" cy="365760"/>
          </a:xfrm>
          <a:prstGeom prst="rect">
            <a:avLst/>
          </a:prstGeom>
          <a:noFill/>
        </p:spPr>
        <p:txBody>
          <a:bodyPr wrap="square" lIns="0" tIns="0" rIns="0" bIns="0" anchor="t">
            <a:spAutoFit/>
          </a:bodyPr>
          <a:lstStyle/>
          <a:p>
            <a:pPr algn="l">
              <a:lnSpc>
                <a:spcPct val="102000"/>
              </a:lnSpc>
              <a:spcBef>
                <a:spcPts val="0"/>
              </a:spcBef>
              <a:spcAft>
                <a:spcPts val="400"/>
              </a:spcAft>
            </a:pPr>
            <a:r>
              <a:rPr sz="1200" b="1" i="0">
                <a:solidFill>
                  <a:srgbClr val="0A7C46"/>
                </a:solidFill>
                <a:latin typeface="Calibri"/>
              </a:rPr>
              <a:t>6 JEUX DE DONNÉES OUVERTS</a:t>
            </a:r>
          </a:p>
        </p:txBody>
      </p:sp>
      <p:sp>
        <p:nvSpPr>
          <p:cNvPr id="8" name="Oval 7"/>
          <p:cNvSpPr/>
          <p:nvPr/>
        </p:nvSpPr>
        <p:spPr>
          <a:xfrm>
            <a:off x="7946136" y="2249424"/>
            <a:ext cx="566928" cy="566928"/>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bolt_good.png"/>
          <p:cNvPicPr>
            <a:picLocks noChangeAspect="1"/>
          </p:cNvPicPr>
          <p:nvPr/>
        </p:nvPicPr>
        <p:blipFill>
          <a:blip r:embed="rId2"/>
          <a:stretch>
            <a:fillRect/>
          </a:stretch>
        </p:blipFill>
        <p:spPr>
          <a:xfrm>
            <a:off x="8070860" y="2374148"/>
            <a:ext cx="317479" cy="317479"/>
          </a:xfrm>
          <a:prstGeom prst="rect">
            <a:avLst/>
          </a:prstGeom>
        </p:spPr>
      </p:pic>
      <p:sp>
        <p:nvSpPr>
          <p:cNvPr id="10" name="TextBox 9"/>
          <p:cNvSpPr txBox="1"/>
          <p:nvPr/>
        </p:nvSpPr>
        <p:spPr>
          <a:xfrm>
            <a:off x="8641080" y="2331720"/>
            <a:ext cx="2788920" cy="640080"/>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16251A"/>
                </a:solidFill>
                <a:latin typeface="Calibri"/>
              </a:rPr>
              <a:t>Accès électricité &amp; cuisson, population, économie</a:t>
            </a:r>
          </a:p>
        </p:txBody>
      </p:sp>
      <p:sp>
        <p:nvSpPr>
          <p:cNvPr id="11" name="Oval 10"/>
          <p:cNvSpPr/>
          <p:nvPr/>
        </p:nvSpPr>
        <p:spPr>
          <a:xfrm>
            <a:off x="7946136" y="2907791"/>
            <a:ext cx="566928" cy="566928"/>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factory_warn.png"/>
          <p:cNvPicPr>
            <a:picLocks noChangeAspect="1"/>
          </p:cNvPicPr>
          <p:nvPr/>
        </p:nvPicPr>
        <p:blipFill>
          <a:blip r:embed="rId3"/>
          <a:stretch>
            <a:fillRect/>
          </a:stretch>
        </p:blipFill>
        <p:spPr>
          <a:xfrm>
            <a:off x="8070860" y="3032516"/>
            <a:ext cx="317479" cy="317479"/>
          </a:xfrm>
          <a:prstGeom prst="rect">
            <a:avLst/>
          </a:prstGeom>
        </p:spPr>
      </p:pic>
      <p:sp>
        <p:nvSpPr>
          <p:cNvPr id="13" name="TextBox 12"/>
          <p:cNvSpPr txBox="1"/>
          <p:nvPr/>
        </p:nvSpPr>
        <p:spPr>
          <a:xfrm>
            <a:off x="8641080" y="2990087"/>
            <a:ext cx="2788920" cy="640080"/>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16251A"/>
                </a:solidFill>
                <a:latin typeface="Calibri"/>
              </a:rPr>
              <a:t>Émissions par secteur (gaz à effet de serre)</a:t>
            </a:r>
          </a:p>
        </p:txBody>
      </p:sp>
      <p:sp>
        <p:nvSpPr>
          <p:cNvPr id="14" name="Oval 13"/>
          <p:cNvSpPr/>
          <p:nvPr/>
        </p:nvSpPr>
        <p:spPr>
          <a:xfrm>
            <a:off x="7946136" y="3566159"/>
            <a:ext cx="566928" cy="566928"/>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thermo_warn.png"/>
          <p:cNvPicPr>
            <a:picLocks noChangeAspect="1"/>
          </p:cNvPicPr>
          <p:nvPr/>
        </p:nvPicPr>
        <p:blipFill>
          <a:blip r:embed="rId4"/>
          <a:stretch>
            <a:fillRect/>
          </a:stretch>
        </p:blipFill>
        <p:spPr>
          <a:xfrm>
            <a:off x="8070860" y="3690884"/>
            <a:ext cx="317479" cy="317479"/>
          </a:xfrm>
          <a:prstGeom prst="rect">
            <a:avLst/>
          </a:prstGeom>
        </p:spPr>
      </p:pic>
      <p:sp>
        <p:nvSpPr>
          <p:cNvPr id="16" name="TextBox 15"/>
          <p:cNvSpPr txBox="1"/>
          <p:nvPr/>
        </p:nvSpPr>
        <p:spPr>
          <a:xfrm>
            <a:off x="8641080" y="3648455"/>
            <a:ext cx="2788920" cy="640080"/>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16251A"/>
                </a:solidFill>
                <a:latin typeface="Calibri"/>
              </a:rPr>
              <a:t>Températures mensuelles · 10 villes</a:t>
            </a:r>
          </a:p>
        </p:txBody>
      </p:sp>
      <p:sp>
        <p:nvSpPr>
          <p:cNvPr id="17" name="Oval 16"/>
          <p:cNvSpPr/>
          <p:nvPr/>
        </p:nvSpPr>
        <p:spPr>
          <a:xfrm>
            <a:off x="7946136" y="4224527"/>
            <a:ext cx="566928" cy="566928"/>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tree_good.png"/>
          <p:cNvPicPr>
            <a:picLocks noChangeAspect="1"/>
          </p:cNvPicPr>
          <p:nvPr/>
        </p:nvPicPr>
        <p:blipFill>
          <a:blip r:embed="rId5"/>
          <a:stretch>
            <a:fillRect/>
          </a:stretch>
        </p:blipFill>
        <p:spPr>
          <a:xfrm>
            <a:off x="8070860" y="4349252"/>
            <a:ext cx="317479" cy="317479"/>
          </a:xfrm>
          <a:prstGeom prst="rect">
            <a:avLst/>
          </a:prstGeom>
        </p:spPr>
      </p:pic>
      <p:sp>
        <p:nvSpPr>
          <p:cNvPr id="19" name="TextBox 18"/>
          <p:cNvSpPr txBox="1"/>
          <p:nvPr/>
        </p:nvSpPr>
        <p:spPr>
          <a:xfrm>
            <a:off x="8641080" y="4306823"/>
            <a:ext cx="2788920" cy="640080"/>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16251A"/>
                </a:solidFill>
                <a:latin typeface="Calibri"/>
              </a:rPr>
              <a:t>Énergies renouvelables &amp; biomasse</a:t>
            </a:r>
          </a:p>
        </p:txBody>
      </p:sp>
      <p:sp>
        <p:nvSpPr>
          <p:cNvPr id="20" name="Oval 19"/>
          <p:cNvSpPr/>
          <p:nvPr/>
        </p:nvSpPr>
        <p:spPr>
          <a:xfrm>
            <a:off x="7946136" y="4882895"/>
            <a:ext cx="566928" cy="566928"/>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chartup_warn.png"/>
          <p:cNvPicPr>
            <a:picLocks noChangeAspect="1"/>
          </p:cNvPicPr>
          <p:nvPr/>
        </p:nvPicPr>
        <p:blipFill>
          <a:blip r:embed="rId6"/>
          <a:stretch>
            <a:fillRect/>
          </a:stretch>
        </p:blipFill>
        <p:spPr>
          <a:xfrm>
            <a:off x="8070860" y="5007620"/>
            <a:ext cx="317479" cy="317479"/>
          </a:xfrm>
          <a:prstGeom prst="rect">
            <a:avLst/>
          </a:prstGeom>
        </p:spPr>
      </p:pic>
      <p:sp>
        <p:nvSpPr>
          <p:cNvPr id="22" name="TextBox 21"/>
          <p:cNvSpPr txBox="1"/>
          <p:nvPr/>
        </p:nvSpPr>
        <p:spPr>
          <a:xfrm>
            <a:off x="8641080" y="4965191"/>
            <a:ext cx="2788920" cy="640080"/>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16251A"/>
                </a:solidFill>
                <a:latin typeface="Calibri"/>
              </a:rPr>
              <a:t>CO₂ de l'électricité (1970-2022)</a:t>
            </a:r>
          </a:p>
        </p:txBody>
      </p:sp>
      <p:sp>
        <p:nvSpPr>
          <p:cNvPr id="23" name="Oval 22"/>
          <p:cNvSpPr/>
          <p:nvPr/>
        </p:nvSpPr>
        <p:spPr>
          <a:xfrm>
            <a:off x="7946136" y="5541263"/>
            <a:ext cx="566928" cy="566928"/>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leaf_good.png"/>
          <p:cNvPicPr>
            <a:picLocks noChangeAspect="1"/>
          </p:cNvPicPr>
          <p:nvPr/>
        </p:nvPicPr>
        <p:blipFill>
          <a:blip r:embed="rId7"/>
          <a:stretch>
            <a:fillRect/>
          </a:stretch>
        </p:blipFill>
        <p:spPr>
          <a:xfrm>
            <a:off x="8070860" y="5665988"/>
            <a:ext cx="317479" cy="317479"/>
          </a:xfrm>
          <a:prstGeom prst="rect">
            <a:avLst/>
          </a:prstGeom>
        </p:spPr>
      </p:pic>
      <p:sp>
        <p:nvSpPr>
          <p:cNvPr id="25" name="TextBox 24"/>
          <p:cNvSpPr txBox="1"/>
          <p:nvPr/>
        </p:nvSpPr>
        <p:spPr>
          <a:xfrm>
            <a:off x="8641080" y="5623559"/>
            <a:ext cx="2788920" cy="640080"/>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16251A"/>
                </a:solidFill>
                <a:latin typeface="Calibri"/>
              </a:rPr>
              <a:t>53 zones protégées &amp; forêts classées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058400" cy="640080"/>
          </a:xfrm>
          <a:prstGeom prst="rect">
            <a:avLst/>
          </a:prstGeom>
          <a:noFill/>
        </p:spPr>
        <p:txBody>
          <a:bodyPr wrap="square" lIns="0" tIns="0" rIns="0" bIns="0" anchor="t">
            <a:spAutoFit/>
          </a:bodyPr>
          <a:lstStyle/>
          <a:p>
            <a:pPr algn="l">
              <a:lnSpc>
                <a:spcPct val="102000"/>
              </a:lnSpc>
              <a:spcBef>
                <a:spcPts val="0"/>
              </a:spcBef>
              <a:spcAft>
                <a:spcPts val="400"/>
              </a:spcAft>
            </a:pPr>
            <a:r>
              <a:rPr sz="3400" b="1" i="0">
                <a:solidFill>
                  <a:srgbClr val="16251A"/>
                </a:solidFill>
                <a:latin typeface="Cambria"/>
              </a:rPr>
              <a:t>Le diagnostic en un écran</a:t>
            </a:r>
          </a:p>
        </p:txBody>
      </p:sp>
      <p:sp>
        <p:nvSpPr>
          <p:cNvPr id="4" name="TextBox 3"/>
          <p:cNvSpPr txBox="1"/>
          <p:nvPr/>
        </p:nvSpPr>
        <p:spPr>
          <a:xfrm>
            <a:off x="640080" y="1143000"/>
            <a:ext cx="100584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0" i="0">
                <a:solidFill>
                  <a:srgbClr val="5E685C"/>
                </a:solidFill>
                <a:latin typeface="Calibri"/>
              </a:rPr>
              <a:t>Quatre chiffres qui résument l'urgence, et fixent le cap.</a:t>
            </a:r>
          </a:p>
        </p:txBody>
      </p:sp>
      <p:sp>
        <p:nvSpPr>
          <p:cNvPr id="5" name="Rounded Rectangle 4"/>
          <p:cNvSpPr/>
          <p:nvPr/>
        </p:nvSpPr>
        <p:spPr>
          <a:xfrm>
            <a:off x="640080" y="1874519"/>
            <a:ext cx="2615184" cy="2743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13816" y="2093976"/>
            <a:ext cx="658368" cy="658368"/>
          </a:xfrm>
          <a:prstGeom prst="ellipse">
            <a:avLst/>
          </a:prstGeom>
          <a:solidFill>
            <a:srgbClr val="FB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bolt_crit.png"/>
          <p:cNvPicPr>
            <a:picLocks noChangeAspect="1"/>
          </p:cNvPicPr>
          <p:nvPr/>
        </p:nvPicPr>
        <p:blipFill>
          <a:blip r:embed="rId2"/>
          <a:stretch>
            <a:fillRect/>
          </a:stretch>
        </p:blipFill>
        <p:spPr>
          <a:xfrm>
            <a:off x="958656" y="2238816"/>
            <a:ext cx="368686" cy="368686"/>
          </a:xfrm>
          <a:prstGeom prst="rect">
            <a:avLst/>
          </a:prstGeom>
        </p:spPr>
      </p:pic>
      <p:sp>
        <p:nvSpPr>
          <p:cNvPr id="8" name="TextBox 7"/>
          <p:cNvSpPr txBox="1"/>
          <p:nvPr/>
        </p:nvSpPr>
        <p:spPr>
          <a:xfrm>
            <a:off x="896112" y="2834639"/>
            <a:ext cx="2157984" cy="822960"/>
          </a:xfrm>
          <a:prstGeom prst="rect">
            <a:avLst/>
          </a:prstGeom>
          <a:noFill/>
        </p:spPr>
        <p:txBody>
          <a:bodyPr wrap="square" lIns="0" tIns="0" rIns="0" bIns="0" anchor="t">
            <a:spAutoFit/>
          </a:bodyPr>
          <a:lstStyle/>
          <a:p>
            <a:pPr algn="l">
              <a:lnSpc>
                <a:spcPct val="102000"/>
              </a:lnSpc>
              <a:spcBef>
                <a:spcPts val="0"/>
              </a:spcBef>
              <a:spcAft>
                <a:spcPts val="400"/>
              </a:spcAft>
            </a:pPr>
            <a:r>
              <a:rPr sz="4000" b="1" i="0">
                <a:solidFill>
                  <a:srgbClr val="D21034"/>
                </a:solidFill>
                <a:latin typeface="Cambria"/>
              </a:rPr>
              <a:t>3,86 M</a:t>
            </a:r>
          </a:p>
        </p:txBody>
      </p:sp>
      <p:sp>
        <p:nvSpPr>
          <p:cNvPr id="9" name="TextBox 8"/>
          <p:cNvSpPr txBox="1"/>
          <p:nvPr/>
        </p:nvSpPr>
        <p:spPr>
          <a:xfrm>
            <a:off x="896112" y="3657600"/>
            <a:ext cx="2157984" cy="640080"/>
          </a:xfrm>
          <a:prstGeom prst="rect">
            <a:avLst/>
          </a:prstGeom>
          <a:noFill/>
        </p:spPr>
        <p:txBody>
          <a:bodyPr wrap="square" lIns="0" tIns="0" rIns="0" bIns="0" anchor="t">
            <a:spAutoFit/>
          </a:bodyPr>
          <a:lstStyle/>
          <a:p>
            <a:pPr algn="l">
              <a:lnSpc>
                <a:spcPct val="100000"/>
              </a:lnSpc>
              <a:spcBef>
                <a:spcPts val="0"/>
              </a:spcBef>
              <a:spcAft>
                <a:spcPts val="400"/>
              </a:spcAft>
            </a:pPr>
            <a:r>
              <a:rPr sz="1350" b="1" i="0">
                <a:solidFill>
                  <a:srgbClr val="16251A"/>
                </a:solidFill>
                <a:latin typeface="Calibri"/>
              </a:rPr>
              <a:t>Togolais sans électricité</a:t>
            </a:r>
          </a:p>
        </p:txBody>
      </p:sp>
      <p:sp>
        <p:nvSpPr>
          <p:cNvPr id="10" name="TextBox 9"/>
          <p:cNvSpPr txBox="1"/>
          <p:nvPr/>
        </p:nvSpPr>
        <p:spPr>
          <a:xfrm>
            <a:off x="896112" y="4206240"/>
            <a:ext cx="2157984" cy="365760"/>
          </a:xfrm>
          <a:prstGeom prst="rect">
            <a:avLst/>
          </a:prstGeom>
          <a:noFill/>
        </p:spPr>
        <p:txBody>
          <a:bodyPr wrap="square" lIns="0" tIns="0" rIns="0" bIns="0" anchor="t">
            <a:spAutoFit/>
          </a:bodyPr>
          <a:lstStyle/>
          <a:p>
            <a:pPr algn="l">
              <a:lnSpc>
                <a:spcPct val="100000"/>
              </a:lnSpc>
              <a:spcBef>
                <a:spcPts val="0"/>
              </a:spcBef>
              <a:spcAft>
                <a:spcPts val="400"/>
              </a:spcAft>
            </a:pPr>
            <a:r>
              <a:rPr sz="1050" b="0" i="0">
                <a:solidFill>
                  <a:srgbClr val="5E685C"/>
                </a:solidFill>
                <a:latin typeface="Calibri"/>
              </a:rPr>
              <a:t>96 % de ce déficit est rural (2022)</a:t>
            </a:r>
          </a:p>
        </p:txBody>
      </p:sp>
      <p:sp>
        <p:nvSpPr>
          <p:cNvPr id="11" name="Rounded Rectangle 10"/>
          <p:cNvSpPr/>
          <p:nvPr/>
        </p:nvSpPr>
        <p:spPr>
          <a:xfrm>
            <a:off x="3419856" y="1874519"/>
            <a:ext cx="2615184" cy="2743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593592" y="2093976"/>
            <a:ext cx="658368" cy="658368"/>
          </a:xfrm>
          <a:prstGeom prst="ellipse">
            <a:avLst/>
          </a:prstGeom>
          <a:solidFill>
            <a:srgbClr val="FBE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flame_crit.png"/>
          <p:cNvPicPr>
            <a:picLocks noChangeAspect="1"/>
          </p:cNvPicPr>
          <p:nvPr/>
        </p:nvPicPr>
        <p:blipFill>
          <a:blip r:embed="rId3"/>
          <a:stretch>
            <a:fillRect/>
          </a:stretch>
        </p:blipFill>
        <p:spPr>
          <a:xfrm>
            <a:off x="3738432" y="2238816"/>
            <a:ext cx="368686" cy="368686"/>
          </a:xfrm>
          <a:prstGeom prst="rect">
            <a:avLst/>
          </a:prstGeom>
        </p:spPr>
      </p:pic>
      <p:sp>
        <p:nvSpPr>
          <p:cNvPr id="14" name="TextBox 13"/>
          <p:cNvSpPr txBox="1"/>
          <p:nvPr/>
        </p:nvSpPr>
        <p:spPr>
          <a:xfrm>
            <a:off x="3675888" y="2834639"/>
            <a:ext cx="2157984" cy="822960"/>
          </a:xfrm>
          <a:prstGeom prst="rect">
            <a:avLst/>
          </a:prstGeom>
          <a:noFill/>
        </p:spPr>
        <p:txBody>
          <a:bodyPr wrap="square" lIns="0" tIns="0" rIns="0" bIns="0" anchor="t">
            <a:spAutoFit/>
          </a:bodyPr>
          <a:lstStyle/>
          <a:p>
            <a:pPr algn="l">
              <a:lnSpc>
                <a:spcPct val="102000"/>
              </a:lnSpc>
              <a:spcBef>
                <a:spcPts val="0"/>
              </a:spcBef>
              <a:spcAft>
                <a:spcPts val="400"/>
              </a:spcAft>
            </a:pPr>
            <a:r>
              <a:rPr sz="4000" b="1" i="0">
                <a:solidFill>
                  <a:srgbClr val="D21034"/>
                </a:solidFill>
                <a:latin typeface="Cambria"/>
              </a:rPr>
              <a:t>88 %</a:t>
            </a:r>
          </a:p>
        </p:txBody>
      </p:sp>
      <p:sp>
        <p:nvSpPr>
          <p:cNvPr id="15" name="TextBox 14"/>
          <p:cNvSpPr txBox="1"/>
          <p:nvPr/>
        </p:nvSpPr>
        <p:spPr>
          <a:xfrm>
            <a:off x="3675888" y="3657600"/>
            <a:ext cx="2157984" cy="640080"/>
          </a:xfrm>
          <a:prstGeom prst="rect">
            <a:avLst/>
          </a:prstGeom>
          <a:noFill/>
        </p:spPr>
        <p:txBody>
          <a:bodyPr wrap="square" lIns="0" tIns="0" rIns="0" bIns="0" anchor="t">
            <a:spAutoFit/>
          </a:bodyPr>
          <a:lstStyle/>
          <a:p>
            <a:pPr algn="l">
              <a:lnSpc>
                <a:spcPct val="100000"/>
              </a:lnSpc>
              <a:spcBef>
                <a:spcPts val="0"/>
              </a:spcBef>
              <a:spcAft>
                <a:spcPts val="400"/>
              </a:spcAft>
            </a:pPr>
            <a:r>
              <a:rPr sz="1350" b="1" i="0">
                <a:solidFill>
                  <a:srgbClr val="16251A"/>
                </a:solidFill>
                <a:latin typeface="Calibri"/>
              </a:rPr>
              <a:t>cuisinent sans énergie propre</a:t>
            </a:r>
          </a:p>
        </p:txBody>
      </p:sp>
      <p:sp>
        <p:nvSpPr>
          <p:cNvPr id="16" name="TextBox 15"/>
          <p:cNvSpPr txBox="1"/>
          <p:nvPr/>
        </p:nvSpPr>
        <p:spPr>
          <a:xfrm>
            <a:off x="3675888" y="4206240"/>
            <a:ext cx="2157984" cy="365760"/>
          </a:xfrm>
          <a:prstGeom prst="rect">
            <a:avLst/>
          </a:prstGeom>
          <a:noFill/>
        </p:spPr>
        <p:txBody>
          <a:bodyPr wrap="square" lIns="0" tIns="0" rIns="0" bIns="0" anchor="t">
            <a:spAutoFit/>
          </a:bodyPr>
          <a:lstStyle/>
          <a:p>
            <a:pPr algn="l">
              <a:lnSpc>
                <a:spcPct val="100000"/>
              </a:lnSpc>
              <a:spcBef>
                <a:spcPts val="0"/>
              </a:spcBef>
              <a:spcAft>
                <a:spcPts val="400"/>
              </a:spcAft>
            </a:pPr>
            <a:r>
              <a:rPr sz="1050" b="0" i="0">
                <a:solidFill>
                  <a:srgbClr val="5E685C"/>
                </a:solidFill>
                <a:latin typeface="Calibri"/>
              </a:rPr>
              <a:t>soit 7,8 M de personnes au bois / charbon</a:t>
            </a:r>
          </a:p>
        </p:txBody>
      </p:sp>
      <p:sp>
        <p:nvSpPr>
          <p:cNvPr id="17" name="Rounded Rectangle 16"/>
          <p:cNvSpPr/>
          <p:nvPr/>
        </p:nvSpPr>
        <p:spPr>
          <a:xfrm>
            <a:off x="6199632" y="1874519"/>
            <a:ext cx="2615184" cy="2743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373368" y="2093976"/>
            <a:ext cx="658368" cy="658368"/>
          </a:xfrm>
          <a:prstGeom prst="ellipse">
            <a:avLst/>
          </a:prstGeom>
          <a:solidFill>
            <a:srgbClr val="FBF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tree_warn.png"/>
          <p:cNvPicPr>
            <a:picLocks noChangeAspect="1"/>
          </p:cNvPicPr>
          <p:nvPr/>
        </p:nvPicPr>
        <p:blipFill>
          <a:blip r:embed="rId4"/>
          <a:stretch>
            <a:fillRect/>
          </a:stretch>
        </p:blipFill>
        <p:spPr>
          <a:xfrm>
            <a:off x="6518208" y="2238816"/>
            <a:ext cx="368686" cy="368686"/>
          </a:xfrm>
          <a:prstGeom prst="rect">
            <a:avLst/>
          </a:prstGeom>
        </p:spPr>
      </p:pic>
      <p:sp>
        <p:nvSpPr>
          <p:cNvPr id="20" name="TextBox 19"/>
          <p:cNvSpPr txBox="1"/>
          <p:nvPr/>
        </p:nvSpPr>
        <p:spPr>
          <a:xfrm>
            <a:off x="6455664" y="2834639"/>
            <a:ext cx="2157984" cy="822960"/>
          </a:xfrm>
          <a:prstGeom prst="rect">
            <a:avLst/>
          </a:prstGeom>
          <a:noFill/>
        </p:spPr>
        <p:txBody>
          <a:bodyPr wrap="square" lIns="0" tIns="0" rIns="0" bIns="0" anchor="t">
            <a:spAutoFit/>
          </a:bodyPr>
          <a:lstStyle/>
          <a:p>
            <a:pPr algn="l">
              <a:lnSpc>
                <a:spcPct val="102000"/>
              </a:lnSpc>
              <a:spcBef>
                <a:spcPts val="0"/>
              </a:spcBef>
              <a:spcAft>
                <a:spcPts val="400"/>
              </a:spcAft>
            </a:pPr>
            <a:r>
              <a:rPr sz="4000" b="1" i="0">
                <a:solidFill>
                  <a:srgbClr val="E0A422"/>
                </a:solidFill>
                <a:latin typeface="Cambria"/>
              </a:rPr>
              <a:t>−1 554</a:t>
            </a:r>
          </a:p>
        </p:txBody>
      </p:sp>
      <p:sp>
        <p:nvSpPr>
          <p:cNvPr id="21" name="TextBox 20"/>
          <p:cNvSpPr txBox="1"/>
          <p:nvPr/>
        </p:nvSpPr>
        <p:spPr>
          <a:xfrm>
            <a:off x="6455664" y="3657600"/>
            <a:ext cx="2157984" cy="640080"/>
          </a:xfrm>
          <a:prstGeom prst="rect">
            <a:avLst/>
          </a:prstGeom>
          <a:noFill/>
        </p:spPr>
        <p:txBody>
          <a:bodyPr wrap="square" lIns="0" tIns="0" rIns="0" bIns="0" anchor="t">
            <a:spAutoFit/>
          </a:bodyPr>
          <a:lstStyle/>
          <a:p>
            <a:pPr algn="l">
              <a:lnSpc>
                <a:spcPct val="100000"/>
              </a:lnSpc>
              <a:spcBef>
                <a:spcPts val="0"/>
              </a:spcBef>
              <a:spcAft>
                <a:spcPts val="400"/>
              </a:spcAft>
            </a:pPr>
            <a:r>
              <a:rPr sz="1350" b="1" i="0">
                <a:solidFill>
                  <a:srgbClr val="16251A"/>
                </a:solidFill>
                <a:latin typeface="Calibri"/>
              </a:rPr>
              <a:t>km² de forêts perdus depuis 1990</a:t>
            </a:r>
          </a:p>
        </p:txBody>
      </p:sp>
      <p:sp>
        <p:nvSpPr>
          <p:cNvPr id="22" name="TextBox 21"/>
          <p:cNvSpPr txBox="1"/>
          <p:nvPr/>
        </p:nvSpPr>
        <p:spPr>
          <a:xfrm>
            <a:off x="6455664" y="4206240"/>
            <a:ext cx="2157984" cy="365760"/>
          </a:xfrm>
          <a:prstGeom prst="rect">
            <a:avLst/>
          </a:prstGeom>
          <a:noFill/>
        </p:spPr>
        <p:txBody>
          <a:bodyPr wrap="square" lIns="0" tIns="0" rIns="0" bIns="0" anchor="t">
            <a:spAutoFit/>
          </a:bodyPr>
          <a:lstStyle/>
          <a:p>
            <a:pPr algn="l">
              <a:lnSpc>
                <a:spcPct val="100000"/>
              </a:lnSpc>
              <a:spcBef>
                <a:spcPts val="0"/>
              </a:spcBef>
              <a:spcAft>
                <a:spcPts val="400"/>
              </a:spcAft>
            </a:pPr>
            <a:r>
              <a:rPr sz="1050" b="0" i="0">
                <a:solidFill>
                  <a:srgbClr val="5E685C"/>
                </a:solidFill>
                <a:latin typeface="Calibri"/>
              </a:rPr>
              <a:t>−11 % du couvert · ~50 km²/an</a:t>
            </a:r>
          </a:p>
        </p:txBody>
      </p:sp>
      <p:sp>
        <p:nvSpPr>
          <p:cNvPr id="23" name="Rounded Rectangle 22"/>
          <p:cNvSpPr/>
          <p:nvPr/>
        </p:nvSpPr>
        <p:spPr>
          <a:xfrm>
            <a:off x="8979408" y="1874519"/>
            <a:ext cx="2615184" cy="2743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153144" y="2093976"/>
            <a:ext cx="658368" cy="658368"/>
          </a:xfrm>
          <a:prstGeom prst="ellipse">
            <a:avLst/>
          </a:prstGeom>
          <a:solidFill>
            <a:srgbClr val="FBF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power_warn.png"/>
          <p:cNvPicPr>
            <a:picLocks noChangeAspect="1"/>
          </p:cNvPicPr>
          <p:nvPr/>
        </p:nvPicPr>
        <p:blipFill>
          <a:blip r:embed="rId5"/>
          <a:stretch>
            <a:fillRect/>
          </a:stretch>
        </p:blipFill>
        <p:spPr>
          <a:xfrm>
            <a:off x="9297984" y="2238816"/>
            <a:ext cx="368686" cy="368686"/>
          </a:xfrm>
          <a:prstGeom prst="rect">
            <a:avLst/>
          </a:prstGeom>
        </p:spPr>
      </p:pic>
      <p:sp>
        <p:nvSpPr>
          <p:cNvPr id="26" name="TextBox 25"/>
          <p:cNvSpPr txBox="1"/>
          <p:nvPr/>
        </p:nvSpPr>
        <p:spPr>
          <a:xfrm>
            <a:off x="9235440" y="2834639"/>
            <a:ext cx="2157984" cy="822960"/>
          </a:xfrm>
          <a:prstGeom prst="rect">
            <a:avLst/>
          </a:prstGeom>
          <a:noFill/>
        </p:spPr>
        <p:txBody>
          <a:bodyPr wrap="square" lIns="0" tIns="0" rIns="0" bIns="0" anchor="t">
            <a:spAutoFit/>
          </a:bodyPr>
          <a:lstStyle/>
          <a:p>
            <a:pPr algn="l">
              <a:lnSpc>
                <a:spcPct val="102000"/>
              </a:lnSpc>
              <a:spcBef>
                <a:spcPts val="0"/>
              </a:spcBef>
              <a:spcAft>
                <a:spcPts val="400"/>
              </a:spcAft>
            </a:pPr>
            <a:r>
              <a:rPr sz="4000" b="1" i="0">
                <a:solidFill>
                  <a:srgbClr val="E0A422"/>
                </a:solidFill>
                <a:latin typeface="Cambria"/>
              </a:rPr>
              <a:t>94 %</a:t>
            </a:r>
          </a:p>
        </p:txBody>
      </p:sp>
      <p:sp>
        <p:nvSpPr>
          <p:cNvPr id="27" name="TextBox 26"/>
          <p:cNvSpPr txBox="1"/>
          <p:nvPr/>
        </p:nvSpPr>
        <p:spPr>
          <a:xfrm>
            <a:off x="9235440" y="3657600"/>
            <a:ext cx="2157984" cy="640080"/>
          </a:xfrm>
          <a:prstGeom prst="rect">
            <a:avLst/>
          </a:prstGeom>
          <a:noFill/>
        </p:spPr>
        <p:txBody>
          <a:bodyPr wrap="square" lIns="0" tIns="0" rIns="0" bIns="0" anchor="t">
            <a:spAutoFit/>
          </a:bodyPr>
          <a:lstStyle/>
          <a:p>
            <a:pPr algn="l">
              <a:lnSpc>
                <a:spcPct val="100000"/>
              </a:lnSpc>
              <a:spcBef>
                <a:spcPts val="0"/>
              </a:spcBef>
              <a:spcAft>
                <a:spcPts val="400"/>
              </a:spcAft>
            </a:pPr>
            <a:r>
              <a:rPr sz="1350" b="1" i="0">
                <a:solidFill>
                  <a:srgbClr val="16251A"/>
                </a:solidFill>
                <a:latin typeface="Calibri"/>
              </a:rPr>
              <a:t>des entreprises subissent des coupures</a:t>
            </a:r>
          </a:p>
        </p:txBody>
      </p:sp>
      <p:sp>
        <p:nvSpPr>
          <p:cNvPr id="28" name="TextBox 27"/>
          <p:cNvSpPr txBox="1"/>
          <p:nvPr/>
        </p:nvSpPr>
        <p:spPr>
          <a:xfrm>
            <a:off x="9235440" y="4206240"/>
            <a:ext cx="2157984" cy="365760"/>
          </a:xfrm>
          <a:prstGeom prst="rect">
            <a:avLst/>
          </a:prstGeom>
          <a:noFill/>
        </p:spPr>
        <p:txBody>
          <a:bodyPr wrap="square" lIns="0" tIns="0" rIns="0" bIns="0" anchor="t">
            <a:spAutoFit/>
          </a:bodyPr>
          <a:lstStyle/>
          <a:p>
            <a:pPr algn="l">
              <a:lnSpc>
                <a:spcPct val="100000"/>
              </a:lnSpc>
              <a:spcBef>
                <a:spcPts val="0"/>
              </a:spcBef>
              <a:spcAft>
                <a:spcPts val="400"/>
              </a:spcAft>
            </a:pPr>
            <a:r>
              <a:rPr sz="1050" b="0" i="0">
                <a:solidFill>
                  <a:srgbClr val="5E685C"/>
                </a:solidFill>
                <a:latin typeface="Calibri"/>
              </a:rPr>
              <a:t>~5,5 coupures/mois (2016)</a:t>
            </a:r>
          </a:p>
        </p:txBody>
      </p:sp>
      <p:sp>
        <p:nvSpPr>
          <p:cNvPr id="29" name="Rounded Rectangle 28"/>
          <p:cNvSpPr/>
          <p:nvPr/>
        </p:nvSpPr>
        <p:spPr>
          <a:xfrm>
            <a:off x="640080" y="5074920"/>
            <a:ext cx="10908792" cy="1051560"/>
          </a:xfrm>
          <a:prstGeom prst="roundRect">
            <a:avLst>
              <a:gd name="adj" fmla="val 7000"/>
            </a:avLst>
          </a:prstGeom>
          <a:solidFill>
            <a:srgbClr val="0A7C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60120" y="5230368"/>
            <a:ext cx="10332720" cy="777240"/>
          </a:xfrm>
          <a:prstGeom prst="rect">
            <a:avLst/>
          </a:prstGeom>
          <a:noFill/>
        </p:spPr>
        <p:txBody>
          <a:bodyPr wrap="square" lIns="0" tIns="0" rIns="0" bIns="0" anchor="ctr">
            <a:spAutoFit/>
          </a:bodyPr>
          <a:lstStyle/>
          <a:p>
            <a:pPr algn="l">
              <a:lnSpc>
                <a:spcPct val="105000"/>
              </a:lnSpc>
              <a:spcBef>
                <a:spcPts val="0"/>
              </a:spcBef>
              <a:spcAft>
                <a:spcPts val="400"/>
              </a:spcAft>
            </a:pPr>
            <a:r>
              <a:rPr sz="1600" b="1" i="0">
                <a:solidFill>
                  <a:srgbClr val="FFCE00"/>
                </a:solidFill>
                <a:latin typeface="Calibri"/>
              </a:rPr>
              <a:t>La thèse.  </a:t>
            </a:r>
            <a:r>
              <a:rPr sz="1600" b="0" i="0">
                <a:solidFill>
                  <a:srgbClr val="FFFFFF"/>
                </a:solidFill>
                <a:latin typeface="Calibri"/>
              </a:rPr>
              <a:t>Électrifier sans déforester : l'off-grid solaire pour l'accès, la cuisson propre pour épargner la forêt, un mix solaire pour ne pas carboniser la transition.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881360" cy="640080"/>
          </a:xfrm>
          <a:prstGeom prst="rect">
            <a:avLst/>
          </a:prstGeom>
          <a:noFill/>
        </p:spPr>
        <p:txBody>
          <a:bodyPr wrap="square" lIns="0" tIns="0" rIns="0" bIns="0" anchor="t">
            <a:spAutoFit/>
          </a:bodyPr>
          <a:lstStyle/>
          <a:p>
            <a:pPr algn="l">
              <a:lnSpc>
                <a:spcPct val="102000"/>
              </a:lnSpc>
              <a:spcBef>
                <a:spcPts val="0"/>
              </a:spcBef>
              <a:spcAft>
                <a:spcPts val="400"/>
              </a:spcAft>
            </a:pPr>
            <a:r>
              <a:rPr sz="3000" b="1" i="0">
                <a:solidFill>
                  <a:srgbClr val="16251A"/>
                </a:solidFill>
                <a:latin typeface="Cambria"/>
              </a:rPr>
              <a:t>La fracture de la lumière</a:t>
            </a:r>
          </a:p>
        </p:txBody>
      </p:sp>
      <p:sp>
        <p:nvSpPr>
          <p:cNvPr id="4" name="TextBox 3"/>
          <p:cNvSpPr txBox="1"/>
          <p:nvPr/>
        </p:nvSpPr>
        <p:spPr>
          <a:xfrm>
            <a:off x="658368" y="1051560"/>
            <a:ext cx="10881360" cy="365760"/>
          </a:xfrm>
          <a:prstGeom prst="rect">
            <a:avLst/>
          </a:prstGeom>
          <a:noFill/>
        </p:spPr>
        <p:txBody>
          <a:bodyPr wrap="square" lIns="0" tIns="0" rIns="0" bIns="0" anchor="t">
            <a:spAutoFit/>
          </a:bodyPr>
          <a:lstStyle/>
          <a:p>
            <a:pPr algn="l">
              <a:lnSpc>
                <a:spcPct val="102000"/>
              </a:lnSpc>
              <a:spcBef>
                <a:spcPts val="0"/>
              </a:spcBef>
              <a:spcAft>
                <a:spcPts val="400"/>
              </a:spcAft>
            </a:pPr>
            <a:r>
              <a:rPr sz="1400" b="0" i="0">
                <a:solidFill>
                  <a:srgbClr val="5E685C"/>
                </a:solidFill>
                <a:latin typeface="Calibri"/>
              </a:rPr>
              <a:t>Ville et campagne face à l'accès, et un réseau qui flanche.</a:t>
            </a:r>
          </a:p>
        </p:txBody>
      </p:sp>
      <p:sp>
        <p:nvSpPr>
          <p:cNvPr id="5" name="Rounded Rectangle 4"/>
          <p:cNvSpPr/>
          <p:nvPr/>
        </p:nvSpPr>
        <p:spPr>
          <a:xfrm>
            <a:off x="640080" y="1600200"/>
            <a:ext cx="6537960" cy="4709160"/>
          </a:xfrm>
          <a:prstGeom prst="roundRect">
            <a:avLst>
              <a:gd name="adj" fmla="val 5000"/>
            </a:avLst>
          </a:prstGeom>
          <a:solidFill>
            <a:srgbClr val="F3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racture.png"/>
          <p:cNvPicPr>
            <a:picLocks noChangeAspect="1"/>
          </p:cNvPicPr>
          <p:nvPr/>
        </p:nvPicPr>
        <p:blipFill>
          <a:blip r:embed="rId2"/>
          <a:stretch>
            <a:fillRect/>
          </a:stretch>
        </p:blipFill>
        <p:spPr>
          <a:xfrm>
            <a:off x="868680" y="1874519"/>
            <a:ext cx="6080760" cy="3289412"/>
          </a:xfrm>
          <a:prstGeom prst="rect">
            <a:avLst/>
          </a:prstGeom>
        </p:spPr>
      </p:pic>
      <p:sp>
        <p:nvSpPr>
          <p:cNvPr id="7" name="TextBox 6"/>
          <p:cNvSpPr txBox="1"/>
          <p:nvPr/>
        </p:nvSpPr>
        <p:spPr>
          <a:xfrm>
            <a:off x="7498079" y="1691640"/>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200" b="1" i="0">
                <a:solidFill>
                  <a:srgbClr val="D21034"/>
                </a:solidFill>
                <a:latin typeface="Calibri"/>
              </a:rPr>
              <a:t>ÉLECTRIFICATION &amp; RÉSEAU</a:t>
            </a:r>
          </a:p>
        </p:txBody>
      </p:sp>
      <p:sp>
        <p:nvSpPr>
          <p:cNvPr id="8" name="TextBox 7"/>
          <p:cNvSpPr txBox="1"/>
          <p:nvPr/>
        </p:nvSpPr>
        <p:spPr>
          <a:xfrm>
            <a:off x="7498079" y="2148840"/>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Un écart qui se creuse</a:t>
            </a:r>
          </a:p>
        </p:txBody>
      </p:sp>
      <p:sp>
        <p:nvSpPr>
          <p:cNvPr id="9" name="TextBox 8"/>
          <p:cNvSpPr txBox="1"/>
          <p:nvPr/>
        </p:nvSpPr>
        <p:spPr>
          <a:xfrm>
            <a:off x="7498079" y="2496312"/>
            <a:ext cx="4114800" cy="914400"/>
          </a:xfrm>
          <a:prstGeom prst="rect">
            <a:avLst/>
          </a:prstGeom>
          <a:noFill/>
        </p:spPr>
        <p:txBody>
          <a:bodyPr wrap="square" lIns="0" tIns="0" rIns="0" bIns="0" anchor="t">
            <a:spAutoFit/>
          </a:bodyPr>
          <a:lstStyle/>
          <a:p>
            <a:pPr algn="l">
              <a:lnSpc>
                <a:spcPct val="105000"/>
              </a:lnSpc>
              <a:spcBef>
                <a:spcPts val="0"/>
              </a:spcBef>
              <a:spcAft>
                <a:spcPts val="400"/>
              </a:spcAft>
            </a:pPr>
            <a:r>
              <a:rPr sz="1300" b="0" i="0">
                <a:solidFill>
                  <a:srgbClr val="16251A"/>
                </a:solidFill>
                <a:latin typeface="Calibri"/>
              </a:rPr>
              <a:t>72 points de % séparent ville (96 %) et campagne (25 %) : un écart ×2,2 depuis 2000.</a:t>
            </a:r>
          </a:p>
        </p:txBody>
      </p:sp>
      <p:sp>
        <p:nvSpPr>
          <p:cNvPr id="10" name="TextBox 9"/>
          <p:cNvSpPr txBox="1"/>
          <p:nvPr/>
        </p:nvSpPr>
        <p:spPr>
          <a:xfrm>
            <a:off x="7498079" y="3081528"/>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Une projection qui alerte</a:t>
            </a:r>
          </a:p>
        </p:txBody>
      </p:sp>
      <p:sp>
        <p:nvSpPr>
          <p:cNvPr id="11" name="TextBox 10"/>
          <p:cNvSpPr txBox="1"/>
          <p:nvPr/>
        </p:nvSpPr>
        <p:spPr>
          <a:xfrm>
            <a:off x="7498079" y="3429000"/>
            <a:ext cx="4114800" cy="914400"/>
          </a:xfrm>
          <a:prstGeom prst="rect">
            <a:avLst/>
          </a:prstGeom>
          <a:noFill/>
        </p:spPr>
        <p:txBody>
          <a:bodyPr wrap="square" lIns="0" tIns="0" rIns="0" bIns="0" anchor="t">
            <a:spAutoFit/>
          </a:bodyPr>
          <a:lstStyle/>
          <a:p>
            <a:pPr algn="l">
              <a:lnSpc>
                <a:spcPct val="105000"/>
              </a:lnSpc>
              <a:spcBef>
                <a:spcPts val="0"/>
              </a:spcBef>
              <a:spcAft>
                <a:spcPts val="400"/>
              </a:spcAft>
            </a:pPr>
            <a:r>
              <a:rPr sz="1300" b="0" i="0">
                <a:solidFill>
                  <a:srgbClr val="16251A"/>
                </a:solidFill>
                <a:latin typeface="Calibri"/>
              </a:rPr>
              <a:t>Au rythme 2010-2022, le rural n'atteint l'accès universel que vers ~2089.</a:t>
            </a:r>
          </a:p>
        </p:txBody>
      </p:sp>
      <p:sp>
        <p:nvSpPr>
          <p:cNvPr id="12" name="TextBox 11"/>
          <p:cNvSpPr txBox="1"/>
          <p:nvPr/>
        </p:nvSpPr>
        <p:spPr>
          <a:xfrm>
            <a:off x="7498079" y="4014216"/>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Un réseau peu fiable</a:t>
            </a:r>
          </a:p>
        </p:txBody>
      </p:sp>
      <p:sp>
        <p:nvSpPr>
          <p:cNvPr id="13" name="TextBox 12"/>
          <p:cNvSpPr txBox="1"/>
          <p:nvPr/>
        </p:nvSpPr>
        <p:spPr>
          <a:xfrm>
            <a:off x="7498079" y="4361688"/>
            <a:ext cx="4114800" cy="914400"/>
          </a:xfrm>
          <a:prstGeom prst="rect">
            <a:avLst/>
          </a:prstGeom>
          <a:noFill/>
        </p:spPr>
        <p:txBody>
          <a:bodyPr wrap="square" lIns="0" tIns="0" rIns="0" bIns="0" anchor="t">
            <a:spAutoFit/>
          </a:bodyPr>
          <a:lstStyle/>
          <a:p>
            <a:pPr algn="l">
              <a:lnSpc>
                <a:spcPct val="105000"/>
              </a:lnSpc>
              <a:spcBef>
                <a:spcPts val="0"/>
              </a:spcBef>
              <a:spcAft>
                <a:spcPts val="400"/>
              </a:spcAft>
            </a:pPr>
            <a:r>
              <a:rPr sz="1300" b="0" i="0">
                <a:solidFill>
                  <a:srgbClr val="16251A"/>
                </a:solidFill>
                <a:latin typeface="Calibri"/>
              </a:rPr>
              <a:t>94 % des entreprises subissent des coupures (~5,5/mois).</a:t>
            </a:r>
          </a:p>
        </p:txBody>
      </p:sp>
      <p:sp>
        <p:nvSpPr>
          <p:cNvPr id="14" name="Rounded Rectangle 13"/>
          <p:cNvSpPr/>
          <p:nvPr/>
        </p:nvSpPr>
        <p:spPr>
          <a:xfrm>
            <a:off x="7498079" y="5504688"/>
            <a:ext cx="4069080" cy="868680"/>
          </a:xfrm>
          <a:prstGeom prst="roundRect">
            <a:avLst>
              <a:gd name="adj" fmla="val 10000"/>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26679" y="5614416"/>
            <a:ext cx="3657600" cy="685800"/>
          </a:xfrm>
          <a:prstGeom prst="rect">
            <a:avLst/>
          </a:prstGeom>
          <a:noFill/>
        </p:spPr>
        <p:txBody>
          <a:bodyPr wrap="square" lIns="0" tIns="0" rIns="0" bIns="0" anchor="ctr">
            <a:spAutoFit/>
          </a:bodyPr>
          <a:lstStyle/>
          <a:p>
            <a:pPr algn="l">
              <a:lnSpc>
                <a:spcPct val="102000"/>
              </a:lnSpc>
              <a:spcBef>
                <a:spcPts val="0"/>
              </a:spcBef>
              <a:spcAft>
                <a:spcPts val="400"/>
              </a:spcAft>
            </a:pPr>
            <a:r>
              <a:rPr sz="1300" b="1" i="0">
                <a:solidFill>
                  <a:srgbClr val="0A7C46"/>
                </a:solidFill>
                <a:latin typeface="Calibri"/>
              </a:rPr>
              <a:t>▸ </a:t>
            </a:r>
            <a:r>
              <a:rPr sz="1250" b="0" i="0">
                <a:solidFill>
                  <a:srgbClr val="16251A"/>
                </a:solidFill>
                <a:latin typeface="Calibri"/>
              </a:rPr>
              <a:t>Solaire hors-réseau : mini-centrales et kits, la seule voie pour tenir le calendrier.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881360" cy="640080"/>
          </a:xfrm>
          <a:prstGeom prst="rect">
            <a:avLst/>
          </a:prstGeom>
          <a:noFill/>
        </p:spPr>
        <p:txBody>
          <a:bodyPr wrap="square" lIns="0" tIns="0" rIns="0" bIns="0" anchor="t">
            <a:spAutoFit/>
          </a:bodyPr>
          <a:lstStyle/>
          <a:p>
            <a:pPr algn="l">
              <a:lnSpc>
                <a:spcPct val="102000"/>
              </a:lnSpc>
              <a:spcBef>
                <a:spcPts val="0"/>
              </a:spcBef>
              <a:spcAft>
                <a:spcPts val="400"/>
              </a:spcAft>
            </a:pPr>
            <a:r>
              <a:rPr sz="3000" b="1" i="0">
                <a:solidFill>
                  <a:srgbClr val="16251A"/>
                </a:solidFill>
                <a:latin typeface="Cambria"/>
              </a:rPr>
              <a:t>Le feu de bois &amp; le recul des forêts</a:t>
            </a:r>
          </a:p>
        </p:txBody>
      </p:sp>
      <p:sp>
        <p:nvSpPr>
          <p:cNvPr id="4" name="TextBox 3"/>
          <p:cNvSpPr txBox="1"/>
          <p:nvPr/>
        </p:nvSpPr>
        <p:spPr>
          <a:xfrm>
            <a:off x="658368" y="1051560"/>
            <a:ext cx="10881360" cy="365760"/>
          </a:xfrm>
          <a:prstGeom prst="rect">
            <a:avLst/>
          </a:prstGeom>
          <a:noFill/>
        </p:spPr>
        <p:txBody>
          <a:bodyPr wrap="square" lIns="0" tIns="0" rIns="0" bIns="0" anchor="t">
            <a:spAutoFit/>
          </a:bodyPr>
          <a:lstStyle/>
          <a:p>
            <a:pPr algn="l">
              <a:lnSpc>
                <a:spcPct val="102000"/>
              </a:lnSpc>
              <a:spcBef>
                <a:spcPts val="0"/>
              </a:spcBef>
              <a:spcAft>
                <a:spcPts val="400"/>
              </a:spcAft>
            </a:pPr>
            <a:r>
              <a:rPr sz="1400" b="0" i="0">
                <a:solidFill>
                  <a:srgbClr val="5E685C"/>
                </a:solidFill>
                <a:latin typeface="Calibri"/>
              </a:rPr>
              <a:t>La cuisson au bois, ou l'absence de choix qui pèse sur la forêt.</a:t>
            </a:r>
          </a:p>
        </p:txBody>
      </p:sp>
      <p:sp>
        <p:nvSpPr>
          <p:cNvPr id="5" name="Rounded Rectangle 4"/>
          <p:cNvSpPr/>
          <p:nvPr/>
        </p:nvSpPr>
        <p:spPr>
          <a:xfrm>
            <a:off x="640080" y="1600200"/>
            <a:ext cx="6537960" cy="4709160"/>
          </a:xfrm>
          <a:prstGeom prst="roundRect">
            <a:avLst>
              <a:gd name="adj" fmla="val 5000"/>
            </a:avLst>
          </a:prstGeom>
          <a:solidFill>
            <a:srgbClr val="F3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deforestation.png"/>
          <p:cNvPicPr>
            <a:picLocks noChangeAspect="1"/>
          </p:cNvPicPr>
          <p:nvPr/>
        </p:nvPicPr>
        <p:blipFill>
          <a:blip r:embed="rId2"/>
          <a:stretch>
            <a:fillRect/>
          </a:stretch>
        </p:blipFill>
        <p:spPr>
          <a:xfrm>
            <a:off x="868680" y="1874519"/>
            <a:ext cx="6080760" cy="3295344"/>
          </a:xfrm>
          <a:prstGeom prst="rect">
            <a:avLst/>
          </a:prstGeom>
        </p:spPr>
      </p:pic>
      <p:sp>
        <p:nvSpPr>
          <p:cNvPr id="7" name="TextBox 6"/>
          <p:cNvSpPr txBox="1"/>
          <p:nvPr/>
        </p:nvSpPr>
        <p:spPr>
          <a:xfrm>
            <a:off x="7498079" y="1691640"/>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200" b="1" i="0">
                <a:solidFill>
                  <a:srgbClr val="E0A422"/>
                </a:solidFill>
                <a:latin typeface="Calibri"/>
              </a:rPr>
              <a:t>CUISSON &amp; FORÊTS</a:t>
            </a:r>
          </a:p>
        </p:txBody>
      </p:sp>
      <p:sp>
        <p:nvSpPr>
          <p:cNvPr id="8" name="TextBox 7"/>
          <p:cNvSpPr txBox="1"/>
          <p:nvPr/>
        </p:nvSpPr>
        <p:spPr>
          <a:xfrm>
            <a:off x="7498079" y="2148840"/>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Presque aucune cuisson propre</a:t>
            </a:r>
          </a:p>
        </p:txBody>
      </p:sp>
      <p:sp>
        <p:nvSpPr>
          <p:cNvPr id="9" name="TextBox 8"/>
          <p:cNvSpPr txBox="1"/>
          <p:nvPr/>
        </p:nvSpPr>
        <p:spPr>
          <a:xfrm>
            <a:off x="7498079" y="2496312"/>
            <a:ext cx="4114800" cy="914400"/>
          </a:xfrm>
          <a:prstGeom prst="rect">
            <a:avLst/>
          </a:prstGeom>
          <a:noFill/>
        </p:spPr>
        <p:txBody>
          <a:bodyPr wrap="square" lIns="0" tIns="0" rIns="0" bIns="0" anchor="t">
            <a:spAutoFit/>
          </a:bodyPr>
          <a:lstStyle/>
          <a:p>
            <a:pPr algn="l">
              <a:lnSpc>
                <a:spcPct val="105000"/>
              </a:lnSpc>
              <a:spcBef>
                <a:spcPts val="0"/>
              </a:spcBef>
              <a:spcAft>
                <a:spcPts val="400"/>
              </a:spcAft>
            </a:pPr>
            <a:r>
              <a:rPr sz="1300" b="0" i="0">
                <a:solidFill>
                  <a:srgbClr val="16251A"/>
                </a:solidFill>
                <a:latin typeface="Calibri"/>
              </a:rPr>
              <a:t>En campagne, 0,9 % seulement des ménages cuisinent proprement.</a:t>
            </a:r>
          </a:p>
        </p:txBody>
      </p:sp>
      <p:sp>
        <p:nvSpPr>
          <p:cNvPr id="10" name="TextBox 9"/>
          <p:cNvSpPr txBox="1"/>
          <p:nvPr/>
        </p:nvSpPr>
        <p:spPr>
          <a:xfrm>
            <a:off x="7498079" y="3081528"/>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Une énergie encore très bois</a:t>
            </a:r>
          </a:p>
        </p:txBody>
      </p:sp>
      <p:sp>
        <p:nvSpPr>
          <p:cNvPr id="11" name="TextBox 10"/>
          <p:cNvSpPr txBox="1"/>
          <p:nvPr/>
        </p:nvSpPr>
        <p:spPr>
          <a:xfrm>
            <a:off x="7498079" y="3429000"/>
            <a:ext cx="4114800" cy="914400"/>
          </a:xfrm>
          <a:prstGeom prst="rect">
            <a:avLst/>
          </a:prstGeom>
          <a:noFill/>
        </p:spPr>
        <p:txBody>
          <a:bodyPr wrap="square" lIns="0" tIns="0" rIns="0" bIns="0" anchor="t">
            <a:spAutoFit/>
          </a:bodyPr>
          <a:lstStyle/>
          <a:p>
            <a:pPr algn="l">
              <a:lnSpc>
                <a:spcPct val="105000"/>
              </a:lnSpc>
              <a:spcBef>
                <a:spcPts val="0"/>
              </a:spcBef>
              <a:spcAft>
                <a:spcPts val="400"/>
              </a:spcAft>
            </a:pPr>
            <a:r>
              <a:rPr sz="1300" b="0" i="0">
                <a:solidFill>
                  <a:srgbClr val="16251A"/>
                </a:solidFill>
                <a:latin typeface="Calibri"/>
              </a:rPr>
              <a:t>La biomasse pèse 44 % de l'énergie du pays (2014).</a:t>
            </a:r>
          </a:p>
        </p:txBody>
      </p:sp>
      <p:sp>
        <p:nvSpPr>
          <p:cNvPr id="12" name="TextBox 11"/>
          <p:cNvSpPr txBox="1"/>
          <p:nvPr/>
        </p:nvSpPr>
        <p:spPr>
          <a:xfrm>
            <a:off x="7498079" y="4014216"/>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Une forêt qui recule</a:t>
            </a:r>
          </a:p>
        </p:txBody>
      </p:sp>
      <p:sp>
        <p:nvSpPr>
          <p:cNvPr id="13" name="TextBox 12"/>
          <p:cNvSpPr txBox="1"/>
          <p:nvPr/>
        </p:nvSpPr>
        <p:spPr>
          <a:xfrm>
            <a:off x="7498079" y="4361688"/>
            <a:ext cx="4114800" cy="914400"/>
          </a:xfrm>
          <a:prstGeom prst="rect">
            <a:avLst/>
          </a:prstGeom>
          <a:noFill/>
        </p:spPr>
        <p:txBody>
          <a:bodyPr wrap="square" lIns="0" tIns="0" rIns="0" bIns="0" anchor="t">
            <a:spAutoFit/>
          </a:bodyPr>
          <a:lstStyle/>
          <a:p>
            <a:pPr algn="l">
              <a:lnSpc>
                <a:spcPct val="105000"/>
              </a:lnSpc>
              <a:spcBef>
                <a:spcPts val="0"/>
              </a:spcBef>
              <a:spcAft>
                <a:spcPts val="400"/>
              </a:spcAft>
            </a:pPr>
            <a:r>
              <a:rPr sz="1300" b="0" i="0">
                <a:solidFill>
                  <a:srgbClr val="16251A"/>
                </a:solidFill>
                <a:latin typeface="Calibri"/>
              </a:rPr>
              <a:t>−1 554 km² depuis 1990 (−11 %). Chaque repas prélève sur le couvert.</a:t>
            </a:r>
          </a:p>
        </p:txBody>
      </p:sp>
      <p:sp>
        <p:nvSpPr>
          <p:cNvPr id="14" name="Rounded Rectangle 13"/>
          <p:cNvSpPr/>
          <p:nvPr/>
        </p:nvSpPr>
        <p:spPr>
          <a:xfrm>
            <a:off x="7498079" y="5504688"/>
            <a:ext cx="4069080" cy="868680"/>
          </a:xfrm>
          <a:prstGeom prst="roundRect">
            <a:avLst>
              <a:gd name="adj" fmla="val 10000"/>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26679" y="5614416"/>
            <a:ext cx="3657600" cy="685800"/>
          </a:xfrm>
          <a:prstGeom prst="rect">
            <a:avLst/>
          </a:prstGeom>
          <a:noFill/>
        </p:spPr>
        <p:txBody>
          <a:bodyPr wrap="square" lIns="0" tIns="0" rIns="0" bIns="0" anchor="ctr">
            <a:spAutoFit/>
          </a:bodyPr>
          <a:lstStyle/>
          <a:p>
            <a:pPr algn="l">
              <a:lnSpc>
                <a:spcPct val="102000"/>
              </a:lnSpc>
              <a:spcBef>
                <a:spcPts val="0"/>
              </a:spcBef>
              <a:spcAft>
                <a:spcPts val="400"/>
              </a:spcAft>
            </a:pPr>
            <a:r>
              <a:rPr sz="1300" b="1" i="0">
                <a:solidFill>
                  <a:srgbClr val="0A7C46"/>
                </a:solidFill>
                <a:latin typeface="Calibri"/>
              </a:rPr>
              <a:t>▸ </a:t>
            </a:r>
            <a:r>
              <a:rPr sz="1250" b="0" i="0">
                <a:solidFill>
                  <a:srgbClr val="16251A"/>
                </a:solidFill>
                <a:latin typeface="Calibri"/>
              </a:rPr>
              <a:t>Diffuser GPL et foyers améliorés : alléger directement la pression sur les forêts.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881360" cy="640080"/>
          </a:xfrm>
          <a:prstGeom prst="rect">
            <a:avLst/>
          </a:prstGeom>
          <a:noFill/>
        </p:spPr>
        <p:txBody>
          <a:bodyPr wrap="square" lIns="0" tIns="0" rIns="0" bIns="0" anchor="t">
            <a:spAutoFit/>
          </a:bodyPr>
          <a:lstStyle/>
          <a:p>
            <a:pPr algn="l">
              <a:lnSpc>
                <a:spcPct val="102000"/>
              </a:lnSpc>
              <a:spcBef>
                <a:spcPts val="0"/>
              </a:spcBef>
              <a:spcAft>
                <a:spcPts val="400"/>
              </a:spcAft>
            </a:pPr>
            <a:r>
              <a:rPr sz="3000" b="1" i="0">
                <a:solidFill>
                  <a:srgbClr val="16251A"/>
                </a:solidFill>
                <a:latin typeface="Cambria"/>
              </a:rPr>
              <a:t>L'empreinte carbone : la nuance</a:t>
            </a:r>
          </a:p>
        </p:txBody>
      </p:sp>
      <p:sp>
        <p:nvSpPr>
          <p:cNvPr id="4" name="TextBox 3"/>
          <p:cNvSpPr txBox="1"/>
          <p:nvPr/>
        </p:nvSpPr>
        <p:spPr>
          <a:xfrm>
            <a:off x="658368" y="1051560"/>
            <a:ext cx="10881360" cy="365760"/>
          </a:xfrm>
          <a:prstGeom prst="rect">
            <a:avLst/>
          </a:prstGeom>
          <a:noFill/>
        </p:spPr>
        <p:txBody>
          <a:bodyPr wrap="square" lIns="0" tIns="0" rIns="0" bIns="0" anchor="t">
            <a:spAutoFit/>
          </a:bodyPr>
          <a:lstStyle/>
          <a:p>
            <a:pPr algn="l">
              <a:lnSpc>
                <a:spcPct val="102000"/>
              </a:lnSpc>
              <a:spcBef>
                <a:spcPts val="0"/>
              </a:spcBef>
              <a:spcAft>
                <a:spcPts val="400"/>
              </a:spcAft>
            </a:pPr>
            <a:r>
              <a:rPr sz="1400" b="0" i="0">
                <a:solidFill>
                  <a:srgbClr val="5E685C"/>
                </a:solidFill>
                <a:latin typeface="Calibri"/>
              </a:rPr>
              <a:t>D'où viennent vraiment les gaz à effet de serre du Togo ?</a:t>
            </a:r>
          </a:p>
        </p:txBody>
      </p:sp>
      <p:sp>
        <p:nvSpPr>
          <p:cNvPr id="5" name="Rounded Rectangle 4"/>
          <p:cNvSpPr/>
          <p:nvPr/>
        </p:nvSpPr>
        <p:spPr>
          <a:xfrm>
            <a:off x="640080" y="1600200"/>
            <a:ext cx="6537960" cy="4709160"/>
          </a:xfrm>
          <a:prstGeom prst="roundRect">
            <a:avLst>
              <a:gd name="adj" fmla="val 5000"/>
            </a:avLst>
          </a:prstGeom>
          <a:solidFill>
            <a:srgbClr val="F3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missions.png"/>
          <p:cNvPicPr>
            <a:picLocks noChangeAspect="1"/>
          </p:cNvPicPr>
          <p:nvPr/>
        </p:nvPicPr>
        <p:blipFill>
          <a:blip r:embed="rId2"/>
          <a:stretch>
            <a:fillRect/>
          </a:stretch>
        </p:blipFill>
        <p:spPr>
          <a:xfrm>
            <a:off x="868680" y="1874519"/>
            <a:ext cx="6080760" cy="3289412"/>
          </a:xfrm>
          <a:prstGeom prst="rect">
            <a:avLst/>
          </a:prstGeom>
        </p:spPr>
      </p:pic>
      <p:sp>
        <p:nvSpPr>
          <p:cNvPr id="7" name="TextBox 6"/>
          <p:cNvSpPr txBox="1"/>
          <p:nvPr/>
        </p:nvSpPr>
        <p:spPr>
          <a:xfrm>
            <a:off x="7498079" y="1691640"/>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200" b="1" i="0">
                <a:solidFill>
                  <a:srgbClr val="0A7C46"/>
                </a:solidFill>
                <a:latin typeface="Calibri"/>
              </a:rPr>
              <a:t>ÉMISSIONS</a:t>
            </a:r>
          </a:p>
        </p:txBody>
      </p:sp>
      <p:sp>
        <p:nvSpPr>
          <p:cNvPr id="8" name="TextBox 7"/>
          <p:cNvSpPr txBox="1"/>
          <p:nvPr/>
        </p:nvSpPr>
        <p:spPr>
          <a:xfrm>
            <a:off x="7498079" y="2148840"/>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L'énergie pèse peu</a:t>
            </a:r>
          </a:p>
        </p:txBody>
      </p:sp>
      <p:sp>
        <p:nvSpPr>
          <p:cNvPr id="9" name="TextBox 8"/>
          <p:cNvSpPr txBox="1"/>
          <p:nvPr/>
        </p:nvSpPr>
        <p:spPr>
          <a:xfrm>
            <a:off x="7498079" y="2496312"/>
            <a:ext cx="4114800" cy="914400"/>
          </a:xfrm>
          <a:prstGeom prst="rect">
            <a:avLst/>
          </a:prstGeom>
          <a:noFill/>
        </p:spPr>
        <p:txBody>
          <a:bodyPr wrap="square" lIns="0" tIns="0" rIns="0" bIns="0" anchor="t">
            <a:spAutoFit/>
          </a:bodyPr>
          <a:lstStyle/>
          <a:p>
            <a:pPr algn="l">
              <a:lnSpc>
                <a:spcPct val="105000"/>
              </a:lnSpc>
              <a:spcBef>
                <a:spcPts val="0"/>
              </a:spcBef>
              <a:spcAft>
                <a:spcPts val="400"/>
              </a:spcAft>
            </a:pPr>
            <a:r>
              <a:rPr sz="1300" b="0" i="0">
                <a:solidFill>
                  <a:srgbClr val="16251A"/>
                </a:solidFill>
                <a:latin typeface="Calibri"/>
              </a:rPr>
              <a:t>Elle ne représente que 6 % des émissions ; l'agriculture et les terres dominent (88 %).</a:t>
            </a:r>
          </a:p>
        </p:txBody>
      </p:sp>
      <p:sp>
        <p:nvSpPr>
          <p:cNvPr id="10" name="TextBox 9"/>
          <p:cNvSpPr txBox="1"/>
          <p:nvPr/>
        </p:nvSpPr>
        <p:spPr>
          <a:xfrm>
            <a:off x="7498079" y="3081528"/>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Un levier d'équité</a:t>
            </a:r>
          </a:p>
        </p:txBody>
      </p:sp>
      <p:sp>
        <p:nvSpPr>
          <p:cNvPr id="11" name="TextBox 10"/>
          <p:cNvSpPr txBox="1"/>
          <p:nvPr/>
        </p:nvSpPr>
        <p:spPr>
          <a:xfrm>
            <a:off x="7498079" y="3429000"/>
            <a:ext cx="4114800" cy="914400"/>
          </a:xfrm>
          <a:prstGeom prst="rect">
            <a:avLst/>
          </a:prstGeom>
          <a:noFill/>
        </p:spPr>
        <p:txBody>
          <a:bodyPr wrap="square" lIns="0" tIns="0" rIns="0" bIns="0" anchor="t">
            <a:spAutoFit/>
          </a:bodyPr>
          <a:lstStyle/>
          <a:p>
            <a:pPr algn="l">
              <a:lnSpc>
                <a:spcPct val="105000"/>
              </a:lnSpc>
              <a:spcBef>
                <a:spcPts val="0"/>
              </a:spcBef>
              <a:spcAft>
                <a:spcPts val="400"/>
              </a:spcAft>
            </a:pPr>
            <a:r>
              <a:rPr sz="1300" b="0" i="0">
                <a:solidFill>
                  <a:srgbClr val="16251A"/>
                </a:solidFill>
                <a:latin typeface="Calibri"/>
              </a:rPr>
              <a:t>Électrifier le rural est d'abord une question d'équité et de protection des forêts.</a:t>
            </a:r>
          </a:p>
        </p:txBody>
      </p:sp>
      <p:sp>
        <p:nvSpPr>
          <p:cNvPr id="12" name="TextBox 11"/>
          <p:cNvSpPr txBox="1"/>
          <p:nvPr/>
        </p:nvSpPr>
        <p:spPr>
          <a:xfrm>
            <a:off x="7498079" y="4014216"/>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Mais rester propre</a:t>
            </a:r>
          </a:p>
        </p:txBody>
      </p:sp>
      <p:sp>
        <p:nvSpPr>
          <p:cNvPr id="13" name="TextBox 12"/>
          <p:cNvSpPr txBox="1"/>
          <p:nvPr/>
        </p:nvSpPr>
        <p:spPr>
          <a:xfrm>
            <a:off x="7498079" y="4361688"/>
            <a:ext cx="4114800" cy="914400"/>
          </a:xfrm>
          <a:prstGeom prst="rect">
            <a:avLst/>
          </a:prstGeom>
          <a:noFill/>
        </p:spPr>
        <p:txBody>
          <a:bodyPr wrap="square" lIns="0" tIns="0" rIns="0" bIns="0" anchor="t">
            <a:spAutoFit/>
          </a:bodyPr>
          <a:lstStyle/>
          <a:p>
            <a:pPr algn="l">
              <a:lnSpc>
                <a:spcPct val="105000"/>
              </a:lnSpc>
              <a:spcBef>
                <a:spcPts val="0"/>
              </a:spcBef>
              <a:spcAft>
                <a:spcPts val="400"/>
              </a:spcAft>
            </a:pPr>
            <a:r>
              <a:rPr sz="1300" b="0" i="0">
                <a:solidFill>
                  <a:srgbClr val="16251A"/>
                </a:solidFill>
                <a:latin typeface="Calibri"/>
              </a:rPr>
              <a:t>Le CO₂ de l'électricité augmente avec le raccordement.</a:t>
            </a:r>
          </a:p>
        </p:txBody>
      </p:sp>
      <p:sp>
        <p:nvSpPr>
          <p:cNvPr id="14" name="Rounded Rectangle 13"/>
          <p:cNvSpPr/>
          <p:nvPr/>
        </p:nvSpPr>
        <p:spPr>
          <a:xfrm>
            <a:off x="7498079" y="5504688"/>
            <a:ext cx="4069080" cy="868680"/>
          </a:xfrm>
          <a:prstGeom prst="roundRect">
            <a:avLst>
              <a:gd name="adj" fmla="val 10000"/>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26679" y="5614416"/>
            <a:ext cx="3657600" cy="685800"/>
          </a:xfrm>
          <a:prstGeom prst="rect">
            <a:avLst/>
          </a:prstGeom>
          <a:noFill/>
        </p:spPr>
        <p:txBody>
          <a:bodyPr wrap="square" lIns="0" tIns="0" rIns="0" bIns="0" anchor="ctr">
            <a:spAutoFit/>
          </a:bodyPr>
          <a:lstStyle/>
          <a:p>
            <a:pPr algn="l">
              <a:lnSpc>
                <a:spcPct val="102000"/>
              </a:lnSpc>
              <a:spcBef>
                <a:spcPts val="0"/>
              </a:spcBef>
              <a:spcAft>
                <a:spcPts val="400"/>
              </a:spcAft>
            </a:pPr>
            <a:r>
              <a:rPr sz="1300" b="1" i="0">
                <a:solidFill>
                  <a:srgbClr val="0A7C46"/>
                </a:solidFill>
                <a:latin typeface="Calibri"/>
              </a:rPr>
              <a:t>▸ </a:t>
            </a:r>
            <a:r>
              <a:rPr sz="1250" b="0" i="0">
                <a:solidFill>
                  <a:srgbClr val="16251A"/>
                </a:solidFill>
                <a:latin typeface="Calibri"/>
              </a:rPr>
              <a:t>Garder une électricité solaire : ne pas troquer le bois contre le fossile.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881360" cy="640080"/>
          </a:xfrm>
          <a:prstGeom prst="rect">
            <a:avLst/>
          </a:prstGeom>
          <a:noFill/>
        </p:spPr>
        <p:txBody>
          <a:bodyPr wrap="square" lIns="0" tIns="0" rIns="0" bIns="0" anchor="t">
            <a:spAutoFit/>
          </a:bodyPr>
          <a:lstStyle/>
          <a:p>
            <a:pPr algn="l">
              <a:lnSpc>
                <a:spcPct val="102000"/>
              </a:lnSpc>
              <a:spcBef>
                <a:spcPts val="0"/>
              </a:spcBef>
              <a:spcAft>
                <a:spcPts val="400"/>
              </a:spcAft>
            </a:pPr>
            <a:r>
              <a:rPr sz="3000" b="1" i="0">
                <a:solidFill>
                  <a:srgbClr val="16251A"/>
                </a:solidFill>
                <a:latin typeface="Cambria"/>
              </a:rPr>
              <a:t>Du Sud au Nord</a:t>
            </a:r>
          </a:p>
        </p:txBody>
      </p:sp>
      <p:sp>
        <p:nvSpPr>
          <p:cNvPr id="4" name="TextBox 3"/>
          <p:cNvSpPr txBox="1"/>
          <p:nvPr/>
        </p:nvSpPr>
        <p:spPr>
          <a:xfrm>
            <a:off x="658368" y="1051560"/>
            <a:ext cx="10881360" cy="365760"/>
          </a:xfrm>
          <a:prstGeom prst="rect">
            <a:avLst/>
          </a:prstGeom>
          <a:noFill/>
        </p:spPr>
        <p:txBody>
          <a:bodyPr wrap="square" lIns="0" tIns="0" rIns="0" bIns="0" anchor="t">
            <a:spAutoFit/>
          </a:bodyPr>
          <a:lstStyle/>
          <a:p>
            <a:pPr algn="l">
              <a:lnSpc>
                <a:spcPct val="102000"/>
              </a:lnSpc>
              <a:spcBef>
                <a:spcPts val="0"/>
              </a:spcBef>
              <a:spcAft>
                <a:spcPts val="400"/>
              </a:spcAft>
            </a:pPr>
            <a:r>
              <a:rPr sz="1400" b="0" i="0">
                <a:solidFill>
                  <a:srgbClr val="5E685C"/>
                </a:solidFill>
                <a:latin typeface="Calibri"/>
              </a:rPr>
              <a:t>Où il fait chaud, et comment la température évolue (10 villes).</a:t>
            </a:r>
          </a:p>
        </p:txBody>
      </p:sp>
      <p:sp>
        <p:nvSpPr>
          <p:cNvPr id="5" name="Rounded Rectangle 4"/>
          <p:cNvSpPr/>
          <p:nvPr/>
        </p:nvSpPr>
        <p:spPr>
          <a:xfrm>
            <a:off x="640080" y="1600200"/>
            <a:ext cx="6537960" cy="4709160"/>
          </a:xfrm>
          <a:prstGeom prst="roundRect">
            <a:avLst>
              <a:gd name="adj" fmla="val 5000"/>
            </a:avLst>
          </a:prstGeom>
          <a:solidFill>
            <a:srgbClr val="F3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limat.png"/>
          <p:cNvPicPr>
            <a:picLocks noChangeAspect="1"/>
          </p:cNvPicPr>
          <p:nvPr/>
        </p:nvPicPr>
        <p:blipFill>
          <a:blip r:embed="rId2"/>
          <a:stretch>
            <a:fillRect/>
          </a:stretch>
        </p:blipFill>
        <p:spPr>
          <a:xfrm>
            <a:off x="868680" y="1874519"/>
            <a:ext cx="6080760" cy="3617806"/>
          </a:xfrm>
          <a:prstGeom prst="rect">
            <a:avLst/>
          </a:prstGeom>
        </p:spPr>
      </p:pic>
      <p:sp>
        <p:nvSpPr>
          <p:cNvPr id="7" name="TextBox 6"/>
          <p:cNvSpPr txBox="1"/>
          <p:nvPr/>
        </p:nvSpPr>
        <p:spPr>
          <a:xfrm>
            <a:off x="7498079" y="1691640"/>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200" b="1" i="0">
                <a:solidFill>
                  <a:srgbClr val="E0A422"/>
                </a:solidFill>
                <a:latin typeface="Calibri"/>
              </a:rPr>
              <a:t>CLIMAT</a:t>
            </a:r>
          </a:p>
        </p:txBody>
      </p:sp>
      <p:sp>
        <p:nvSpPr>
          <p:cNvPr id="8" name="TextBox 7"/>
          <p:cNvSpPr txBox="1"/>
          <p:nvPr/>
        </p:nvSpPr>
        <p:spPr>
          <a:xfrm>
            <a:off x="7498079" y="2148840"/>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Un gradient net</a:t>
            </a:r>
          </a:p>
        </p:txBody>
      </p:sp>
      <p:sp>
        <p:nvSpPr>
          <p:cNvPr id="9" name="TextBox 8"/>
          <p:cNvSpPr txBox="1"/>
          <p:nvPr/>
        </p:nvSpPr>
        <p:spPr>
          <a:xfrm>
            <a:off x="7498079" y="2496312"/>
            <a:ext cx="4114800" cy="914400"/>
          </a:xfrm>
          <a:prstGeom prst="rect">
            <a:avLst/>
          </a:prstGeom>
          <a:noFill/>
        </p:spPr>
        <p:txBody>
          <a:bodyPr wrap="square" lIns="0" tIns="0" rIns="0" bIns="0" anchor="t">
            <a:spAutoFit/>
          </a:bodyPr>
          <a:lstStyle/>
          <a:p>
            <a:pPr algn="l">
              <a:lnSpc>
                <a:spcPct val="105000"/>
              </a:lnSpc>
              <a:spcBef>
                <a:spcPts val="0"/>
              </a:spcBef>
              <a:spcAft>
                <a:spcPts val="400"/>
              </a:spcAft>
            </a:pPr>
            <a:r>
              <a:rPr sz="1300" b="0" i="0">
                <a:solidFill>
                  <a:srgbClr val="16251A"/>
                </a:solidFill>
                <a:latin typeface="Calibri"/>
              </a:rPr>
              <a:t>Jusqu'à +7,2 °C d'écart entre villes : il fait bien plus chaud au Nord.</a:t>
            </a:r>
          </a:p>
        </p:txBody>
      </p:sp>
      <p:sp>
        <p:nvSpPr>
          <p:cNvPr id="10" name="TextBox 9"/>
          <p:cNvSpPr txBox="1"/>
          <p:nvPr/>
        </p:nvSpPr>
        <p:spPr>
          <a:xfrm>
            <a:off x="7498079" y="3081528"/>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Un réchauffement d'ensemble</a:t>
            </a:r>
          </a:p>
        </p:txBody>
      </p:sp>
      <p:sp>
        <p:nvSpPr>
          <p:cNvPr id="11" name="TextBox 10"/>
          <p:cNvSpPr txBox="1"/>
          <p:nvPr/>
        </p:nvSpPr>
        <p:spPr>
          <a:xfrm>
            <a:off x="7498079" y="3429000"/>
            <a:ext cx="4114800" cy="914400"/>
          </a:xfrm>
          <a:prstGeom prst="rect">
            <a:avLst/>
          </a:prstGeom>
          <a:noFill/>
        </p:spPr>
        <p:txBody>
          <a:bodyPr wrap="square" lIns="0" tIns="0" rIns="0" bIns="0" anchor="t">
            <a:spAutoFit/>
          </a:bodyPr>
          <a:lstStyle/>
          <a:p>
            <a:pPr algn="l">
              <a:lnSpc>
                <a:spcPct val="105000"/>
              </a:lnSpc>
              <a:spcBef>
                <a:spcPts val="0"/>
              </a:spcBef>
              <a:spcAft>
                <a:spcPts val="400"/>
              </a:spcAft>
            </a:pPr>
            <a:r>
              <a:rPr sz="1300" b="0" i="0">
                <a:solidFill>
                  <a:srgbClr val="16251A"/>
                </a:solidFill>
                <a:latin typeface="Calibri"/>
              </a:rPr>
              <a:t>Sur 2013-2019, 8 villes sur 10 se réchauffent (+0,45 °C/décennie en moyenne).</a:t>
            </a:r>
          </a:p>
        </p:txBody>
      </p:sp>
      <p:sp>
        <p:nvSpPr>
          <p:cNvPr id="12" name="TextBox 11"/>
          <p:cNvSpPr txBox="1"/>
          <p:nvPr/>
        </p:nvSpPr>
        <p:spPr>
          <a:xfrm>
            <a:off x="7498079" y="4014216"/>
            <a:ext cx="41148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Le lien énergie</a:t>
            </a:r>
          </a:p>
        </p:txBody>
      </p:sp>
      <p:sp>
        <p:nvSpPr>
          <p:cNvPr id="13" name="TextBox 12"/>
          <p:cNvSpPr txBox="1"/>
          <p:nvPr/>
        </p:nvSpPr>
        <p:spPr>
          <a:xfrm>
            <a:off x="7498079" y="4361688"/>
            <a:ext cx="4114800" cy="914400"/>
          </a:xfrm>
          <a:prstGeom prst="rect">
            <a:avLst/>
          </a:prstGeom>
          <a:noFill/>
        </p:spPr>
        <p:txBody>
          <a:bodyPr wrap="square" lIns="0" tIns="0" rIns="0" bIns="0" anchor="t">
            <a:spAutoFit/>
          </a:bodyPr>
          <a:lstStyle/>
          <a:p>
            <a:pPr algn="l">
              <a:lnSpc>
                <a:spcPct val="105000"/>
              </a:lnSpc>
              <a:spcBef>
                <a:spcPts val="0"/>
              </a:spcBef>
              <a:spcAft>
                <a:spcPts val="400"/>
              </a:spcAft>
            </a:pPr>
            <a:r>
              <a:rPr sz="1300" b="0" i="0">
                <a:solidFill>
                  <a:srgbClr val="16251A"/>
                </a:solidFill>
                <a:latin typeface="Calibri"/>
              </a:rPr>
              <a:t>Le Nord, le plus chaud, est aussi le moins électrifié, plus de besoins de refroidissement.</a:t>
            </a:r>
          </a:p>
        </p:txBody>
      </p:sp>
      <p:sp>
        <p:nvSpPr>
          <p:cNvPr id="14" name="Rounded Rectangle 13"/>
          <p:cNvSpPr/>
          <p:nvPr/>
        </p:nvSpPr>
        <p:spPr>
          <a:xfrm>
            <a:off x="7498079" y="5504688"/>
            <a:ext cx="4069080" cy="868680"/>
          </a:xfrm>
          <a:prstGeom prst="roundRect">
            <a:avLst>
              <a:gd name="adj" fmla="val 10000"/>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26679" y="5614416"/>
            <a:ext cx="3657600" cy="685800"/>
          </a:xfrm>
          <a:prstGeom prst="rect">
            <a:avLst/>
          </a:prstGeom>
          <a:noFill/>
        </p:spPr>
        <p:txBody>
          <a:bodyPr wrap="square" lIns="0" tIns="0" rIns="0" bIns="0" anchor="ctr">
            <a:spAutoFit/>
          </a:bodyPr>
          <a:lstStyle/>
          <a:p>
            <a:pPr algn="l">
              <a:lnSpc>
                <a:spcPct val="102000"/>
              </a:lnSpc>
              <a:spcBef>
                <a:spcPts val="0"/>
              </a:spcBef>
              <a:spcAft>
                <a:spcPts val="400"/>
              </a:spcAft>
            </a:pPr>
            <a:r>
              <a:rPr sz="1300" b="1" i="0">
                <a:solidFill>
                  <a:srgbClr val="0A7C46"/>
                </a:solidFill>
                <a:latin typeface="Calibri"/>
              </a:rPr>
              <a:t>▸ </a:t>
            </a:r>
            <a:r>
              <a:rPr sz="1250" b="0" i="0">
                <a:solidFill>
                  <a:srgbClr val="16251A"/>
                </a:solidFill>
                <a:latin typeface="Calibri"/>
              </a:rPr>
              <a:t>Renforce l'urgence d'électrifier proprement les campagnes du Nord.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7C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058400" cy="640080"/>
          </a:xfrm>
          <a:prstGeom prst="rect">
            <a:avLst/>
          </a:prstGeom>
          <a:noFill/>
        </p:spPr>
        <p:txBody>
          <a:bodyPr wrap="square" lIns="0" tIns="0" rIns="0" bIns="0" anchor="t">
            <a:spAutoFit/>
          </a:bodyPr>
          <a:lstStyle/>
          <a:p>
            <a:pPr algn="l">
              <a:lnSpc>
                <a:spcPct val="102000"/>
              </a:lnSpc>
              <a:spcBef>
                <a:spcPts val="0"/>
              </a:spcBef>
              <a:spcAft>
                <a:spcPts val="400"/>
              </a:spcAft>
            </a:pPr>
            <a:r>
              <a:rPr sz="3400" b="1" i="0">
                <a:solidFill>
                  <a:srgbClr val="FFFFFF"/>
                </a:solidFill>
                <a:latin typeface="Cambria"/>
              </a:rPr>
              <a:t>Agir, sobrement</a:t>
            </a:r>
          </a:p>
        </p:txBody>
      </p:sp>
      <p:sp>
        <p:nvSpPr>
          <p:cNvPr id="4" name="TextBox 3"/>
          <p:cNvSpPr txBox="1"/>
          <p:nvPr/>
        </p:nvSpPr>
        <p:spPr>
          <a:xfrm>
            <a:off x="658368" y="1143000"/>
            <a:ext cx="1005840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0" i="0">
                <a:solidFill>
                  <a:srgbClr val="CFE6D8"/>
                </a:solidFill>
                <a:latin typeface="Calibri"/>
              </a:rPr>
              <a:t>Quatre leviers pour électrifier sans déforester.</a:t>
            </a:r>
          </a:p>
        </p:txBody>
      </p:sp>
      <p:sp>
        <p:nvSpPr>
          <p:cNvPr id="5" name="Rounded Rectangle 4"/>
          <p:cNvSpPr/>
          <p:nvPr/>
        </p:nvSpPr>
        <p:spPr>
          <a:xfrm>
            <a:off x="640080" y="1828800"/>
            <a:ext cx="5349240"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86968" y="2075687"/>
            <a:ext cx="822960" cy="822960"/>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olar_lv.png"/>
          <p:cNvPicPr>
            <a:picLocks noChangeAspect="1"/>
          </p:cNvPicPr>
          <p:nvPr/>
        </p:nvPicPr>
        <p:blipFill>
          <a:blip r:embed="rId2"/>
          <a:stretch>
            <a:fillRect/>
          </a:stretch>
        </p:blipFill>
        <p:spPr>
          <a:xfrm>
            <a:off x="1068019" y="2256739"/>
            <a:ext cx="460857" cy="460857"/>
          </a:xfrm>
          <a:prstGeom prst="rect">
            <a:avLst/>
          </a:prstGeom>
        </p:spPr>
      </p:pic>
      <p:sp>
        <p:nvSpPr>
          <p:cNvPr id="8" name="TextBox 7"/>
          <p:cNvSpPr txBox="1"/>
          <p:nvPr/>
        </p:nvSpPr>
        <p:spPr>
          <a:xfrm>
            <a:off x="1874519" y="2084832"/>
            <a:ext cx="3886200" cy="457200"/>
          </a:xfrm>
          <a:prstGeom prst="rect">
            <a:avLst/>
          </a:prstGeom>
          <a:noFill/>
        </p:spPr>
        <p:txBody>
          <a:bodyPr wrap="square" lIns="0" tIns="0" rIns="0" bIns="0" anchor="t">
            <a:spAutoFit/>
          </a:bodyPr>
          <a:lstStyle/>
          <a:p>
            <a:pPr algn="l">
              <a:lnSpc>
                <a:spcPct val="102000"/>
              </a:lnSpc>
              <a:spcBef>
                <a:spcPts val="0"/>
              </a:spcBef>
              <a:spcAft>
                <a:spcPts val="400"/>
              </a:spcAft>
            </a:pPr>
            <a:r>
              <a:rPr sz="1650" b="1" i="0">
                <a:solidFill>
                  <a:srgbClr val="16251A"/>
                </a:solidFill>
                <a:latin typeface="Cambria"/>
              </a:rPr>
              <a:t>01  Solariser les villages</a:t>
            </a:r>
          </a:p>
        </p:txBody>
      </p:sp>
      <p:sp>
        <p:nvSpPr>
          <p:cNvPr id="9" name="TextBox 8"/>
          <p:cNvSpPr txBox="1"/>
          <p:nvPr/>
        </p:nvSpPr>
        <p:spPr>
          <a:xfrm>
            <a:off x="1874519" y="2615184"/>
            <a:ext cx="3886200" cy="914400"/>
          </a:xfrm>
          <a:prstGeom prst="rect">
            <a:avLst/>
          </a:prstGeom>
          <a:noFill/>
        </p:spPr>
        <p:txBody>
          <a:bodyPr wrap="square" lIns="0" tIns="0" rIns="0" bIns="0" anchor="t">
            <a:spAutoFit/>
          </a:bodyPr>
          <a:lstStyle/>
          <a:p>
            <a:pPr algn="l">
              <a:lnSpc>
                <a:spcPct val="105000"/>
              </a:lnSpc>
              <a:spcBef>
                <a:spcPts val="0"/>
              </a:spcBef>
              <a:spcAft>
                <a:spcPts val="400"/>
              </a:spcAft>
            </a:pPr>
            <a:r>
              <a:rPr sz="1250" b="0" i="0">
                <a:solidFill>
                  <a:srgbClr val="16251A"/>
                </a:solidFill>
                <a:latin typeface="Calibri"/>
              </a:rPr>
              <a:t>Mini-centrales et kits solaires là où le réseau est lent, coûteux et peu fiable.</a:t>
            </a:r>
          </a:p>
        </p:txBody>
      </p:sp>
      <p:sp>
        <p:nvSpPr>
          <p:cNvPr id="10" name="TextBox 9"/>
          <p:cNvSpPr txBox="1"/>
          <p:nvPr/>
        </p:nvSpPr>
        <p:spPr>
          <a:xfrm>
            <a:off x="1874519" y="3566160"/>
            <a:ext cx="3886200" cy="320040"/>
          </a:xfrm>
          <a:prstGeom prst="rect">
            <a:avLst/>
          </a:prstGeom>
          <a:noFill/>
        </p:spPr>
        <p:txBody>
          <a:bodyPr wrap="square" lIns="0" tIns="0" rIns="0" bIns="0" anchor="t">
            <a:spAutoFit/>
          </a:bodyPr>
          <a:lstStyle/>
          <a:p>
            <a:pPr algn="l">
              <a:lnSpc>
                <a:spcPct val="102000"/>
              </a:lnSpc>
              <a:spcBef>
                <a:spcPts val="0"/>
              </a:spcBef>
              <a:spcAft>
                <a:spcPts val="400"/>
              </a:spcAft>
            </a:pPr>
            <a:r>
              <a:rPr sz="1000" b="1" i="0">
                <a:solidFill>
                  <a:srgbClr val="0A7C46"/>
                </a:solidFill>
                <a:latin typeface="Calibri"/>
              </a:rPr>
              <a:t>CIBLE : </a:t>
            </a:r>
            <a:r>
              <a:rPr sz="1000" b="0" i="0">
                <a:solidFill>
                  <a:srgbClr val="5E685C"/>
                </a:solidFill>
                <a:latin typeface="Calibri"/>
              </a:rPr>
              <a:t>Savanes, Kara, Centrale</a:t>
            </a:r>
          </a:p>
        </p:txBody>
      </p:sp>
      <p:sp>
        <p:nvSpPr>
          <p:cNvPr id="11" name="Rounded Rectangle 10"/>
          <p:cNvSpPr/>
          <p:nvPr/>
        </p:nvSpPr>
        <p:spPr>
          <a:xfrm>
            <a:off x="6190488" y="1828800"/>
            <a:ext cx="5349240"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37375" y="2075687"/>
            <a:ext cx="822960" cy="822960"/>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pot_lv.png"/>
          <p:cNvPicPr>
            <a:picLocks noChangeAspect="1"/>
          </p:cNvPicPr>
          <p:nvPr/>
        </p:nvPicPr>
        <p:blipFill>
          <a:blip r:embed="rId3"/>
          <a:stretch>
            <a:fillRect/>
          </a:stretch>
        </p:blipFill>
        <p:spPr>
          <a:xfrm>
            <a:off x="6618427" y="2256739"/>
            <a:ext cx="460857" cy="460857"/>
          </a:xfrm>
          <a:prstGeom prst="rect">
            <a:avLst/>
          </a:prstGeom>
        </p:spPr>
      </p:pic>
      <p:sp>
        <p:nvSpPr>
          <p:cNvPr id="14" name="TextBox 13"/>
          <p:cNvSpPr txBox="1"/>
          <p:nvPr/>
        </p:nvSpPr>
        <p:spPr>
          <a:xfrm>
            <a:off x="7424927" y="2084832"/>
            <a:ext cx="3886200" cy="457200"/>
          </a:xfrm>
          <a:prstGeom prst="rect">
            <a:avLst/>
          </a:prstGeom>
          <a:noFill/>
        </p:spPr>
        <p:txBody>
          <a:bodyPr wrap="square" lIns="0" tIns="0" rIns="0" bIns="0" anchor="t">
            <a:spAutoFit/>
          </a:bodyPr>
          <a:lstStyle/>
          <a:p>
            <a:pPr algn="l">
              <a:lnSpc>
                <a:spcPct val="102000"/>
              </a:lnSpc>
              <a:spcBef>
                <a:spcPts val="0"/>
              </a:spcBef>
              <a:spcAft>
                <a:spcPts val="400"/>
              </a:spcAft>
            </a:pPr>
            <a:r>
              <a:rPr sz="1650" b="1" i="0">
                <a:solidFill>
                  <a:srgbClr val="16251A"/>
                </a:solidFill>
                <a:latin typeface="Cambria"/>
              </a:rPr>
              <a:t>02  Sortir du bois de cuisson</a:t>
            </a:r>
          </a:p>
        </p:txBody>
      </p:sp>
      <p:sp>
        <p:nvSpPr>
          <p:cNvPr id="15" name="TextBox 14"/>
          <p:cNvSpPr txBox="1"/>
          <p:nvPr/>
        </p:nvSpPr>
        <p:spPr>
          <a:xfrm>
            <a:off x="7424927" y="2615184"/>
            <a:ext cx="3886200" cy="914400"/>
          </a:xfrm>
          <a:prstGeom prst="rect">
            <a:avLst/>
          </a:prstGeom>
          <a:noFill/>
        </p:spPr>
        <p:txBody>
          <a:bodyPr wrap="square" lIns="0" tIns="0" rIns="0" bIns="0" anchor="t">
            <a:spAutoFit/>
          </a:bodyPr>
          <a:lstStyle/>
          <a:p>
            <a:pPr algn="l">
              <a:lnSpc>
                <a:spcPct val="105000"/>
              </a:lnSpc>
              <a:spcBef>
                <a:spcPts val="0"/>
              </a:spcBef>
              <a:spcAft>
                <a:spcPts val="400"/>
              </a:spcAft>
            </a:pPr>
            <a:r>
              <a:rPr sz="1250" b="0" i="0">
                <a:solidFill>
                  <a:srgbClr val="16251A"/>
                </a:solidFill>
                <a:latin typeface="Calibri"/>
              </a:rPr>
              <a:t>Diffuser GPL et foyers améliorés : moins de pression sur les forêts et la santé.</a:t>
            </a:r>
          </a:p>
        </p:txBody>
      </p:sp>
      <p:sp>
        <p:nvSpPr>
          <p:cNvPr id="16" name="TextBox 15"/>
          <p:cNvSpPr txBox="1"/>
          <p:nvPr/>
        </p:nvSpPr>
        <p:spPr>
          <a:xfrm>
            <a:off x="7424927" y="3566160"/>
            <a:ext cx="3886200" cy="320040"/>
          </a:xfrm>
          <a:prstGeom prst="rect">
            <a:avLst/>
          </a:prstGeom>
          <a:noFill/>
        </p:spPr>
        <p:txBody>
          <a:bodyPr wrap="square" lIns="0" tIns="0" rIns="0" bIns="0" anchor="t">
            <a:spAutoFit/>
          </a:bodyPr>
          <a:lstStyle/>
          <a:p>
            <a:pPr algn="l">
              <a:lnSpc>
                <a:spcPct val="102000"/>
              </a:lnSpc>
              <a:spcBef>
                <a:spcPts val="0"/>
              </a:spcBef>
              <a:spcAft>
                <a:spcPts val="400"/>
              </a:spcAft>
            </a:pPr>
            <a:r>
              <a:rPr sz="1000" b="1" i="0">
                <a:solidFill>
                  <a:srgbClr val="0A7C46"/>
                </a:solidFill>
                <a:latin typeface="Calibri"/>
              </a:rPr>
              <a:t>CIBLE : </a:t>
            </a:r>
            <a:r>
              <a:rPr sz="1000" b="0" i="0">
                <a:solidFill>
                  <a:srgbClr val="5E685C"/>
                </a:solidFill>
                <a:latin typeface="Calibri"/>
              </a:rPr>
              <a:t>Ménages ruraux, national</a:t>
            </a:r>
          </a:p>
        </p:txBody>
      </p:sp>
      <p:sp>
        <p:nvSpPr>
          <p:cNvPr id="17" name="Rounded Rectangle 16"/>
          <p:cNvSpPr/>
          <p:nvPr/>
        </p:nvSpPr>
        <p:spPr>
          <a:xfrm>
            <a:off x="640080" y="4178808"/>
            <a:ext cx="5349240"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86968" y="4425696"/>
            <a:ext cx="822960" cy="822960"/>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cleanpower_lv.png"/>
          <p:cNvPicPr>
            <a:picLocks noChangeAspect="1"/>
          </p:cNvPicPr>
          <p:nvPr/>
        </p:nvPicPr>
        <p:blipFill>
          <a:blip r:embed="rId4"/>
          <a:stretch>
            <a:fillRect/>
          </a:stretch>
        </p:blipFill>
        <p:spPr>
          <a:xfrm>
            <a:off x="1068019" y="4606747"/>
            <a:ext cx="460857" cy="460857"/>
          </a:xfrm>
          <a:prstGeom prst="rect">
            <a:avLst/>
          </a:prstGeom>
        </p:spPr>
      </p:pic>
      <p:sp>
        <p:nvSpPr>
          <p:cNvPr id="20" name="TextBox 19"/>
          <p:cNvSpPr txBox="1"/>
          <p:nvPr/>
        </p:nvSpPr>
        <p:spPr>
          <a:xfrm>
            <a:off x="1874519" y="4434840"/>
            <a:ext cx="3886200" cy="457200"/>
          </a:xfrm>
          <a:prstGeom prst="rect">
            <a:avLst/>
          </a:prstGeom>
          <a:noFill/>
        </p:spPr>
        <p:txBody>
          <a:bodyPr wrap="square" lIns="0" tIns="0" rIns="0" bIns="0" anchor="t">
            <a:spAutoFit/>
          </a:bodyPr>
          <a:lstStyle/>
          <a:p>
            <a:pPr algn="l">
              <a:lnSpc>
                <a:spcPct val="102000"/>
              </a:lnSpc>
              <a:spcBef>
                <a:spcPts val="0"/>
              </a:spcBef>
              <a:spcAft>
                <a:spcPts val="400"/>
              </a:spcAft>
            </a:pPr>
            <a:r>
              <a:rPr sz="1650" b="1" i="0">
                <a:solidFill>
                  <a:srgbClr val="16251A"/>
                </a:solidFill>
                <a:latin typeface="Cambria"/>
              </a:rPr>
              <a:t>03  Garder une électricité propre</a:t>
            </a:r>
          </a:p>
        </p:txBody>
      </p:sp>
      <p:sp>
        <p:nvSpPr>
          <p:cNvPr id="21" name="TextBox 20"/>
          <p:cNvSpPr txBox="1"/>
          <p:nvPr/>
        </p:nvSpPr>
        <p:spPr>
          <a:xfrm>
            <a:off x="1874519" y="4965192"/>
            <a:ext cx="3886200" cy="914400"/>
          </a:xfrm>
          <a:prstGeom prst="rect">
            <a:avLst/>
          </a:prstGeom>
          <a:noFill/>
        </p:spPr>
        <p:txBody>
          <a:bodyPr wrap="square" lIns="0" tIns="0" rIns="0" bIns="0" anchor="t">
            <a:spAutoFit/>
          </a:bodyPr>
          <a:lstStyle/>
          <a:p>
            <a:pPr algn="l">
              <a:lnSpc>
                <a:spcPct val="105000"/>
              </a:lnSpc>
              <a:spcBef>
                <a:spcPts val="0"/>
              </a:spcBef>
              <a:spcAft>
                <a:spcPts val="400"/>
              </a:spcAft>
            </a:pPr>
            <a:r>
              <a:rPr sz="1250" b="0" i="0">
                <a:solidFill>
                  <a:srgbClr val="16251A"/>
                </a:solidFill>
                <a:latin typeface="Calibri"/>
              </a:rPr>
              <a:t>Privilégier le solaire pour ne pas remplacer le bois par le fossile.</a:t>
            </a:r>
          </a:p>
        </p:txBody>
      </p:sp>
      <p:sp>
        <p:nvSpPr>
          <p:cNvPr id="22" name="TextBox 21"/>
          <p:cNvSpPr txBox="1"/>
          <p:nvPr/>
        </p:nvSpPr>
        <p:spPr>
          <a:xfrm>
            <a:off x="1874519" y="5916168"/>
            <a:ext cx="3886200" cy="320040"/>
          </a:xfrm>
          <a:prstGeom prst="rect">
            <a:avLst/>
          </a:prstGeom>
          <a:noFill/>
        </p:spPr>
        <p:txBody>
          <a:bodyPr wrap="square" lIns="0" tIns="0" rIns="0" bIns="0" anchor="t">
            <a:spAutoFit/>
          </a:bodyPr>
          <a:lstStyle/>
          <a:p>
            <a:pPr algn="l">
              <a:lnSpc>
                <a:spcPct val="102000"/>
              </a:lnSpc>
              <a:spcBef>
                <a:spcPts val="0"/>
              </a:spcBef>
              <a:spcAft>
                <a:spcPts val="400"/>
              </a:spcAft>
            </a:pPr>
            <a:r>
              <a:rPr sz="1000" b="1" i="0">
                <a:solidFill>
                  <a:srgbClr val="0A7C46"/>
                </a:solidFill>
                <a:latin typeface="Calibri"/>
              </a:rPr>
              <a:t>CIBLE : </a:t>
            </a:r>
            <a:r>
              <a:rPr sz="1000" b="0" i="0">
                <a:solidFill>
                  <a:srgbClr val="5E685C"/>
                </a:solidFill>
                <a:latin typeface="Calibri"/>
              </a:rPr>
              <a:t>Mix électrique national</a:t>
            </a:r>
          </a:p>
        </p:txBody>
      </p:sp>
      <p:sp>
        <p:nvSpPr>
          <p:cNvPr id="23" name="Rounded Rectangle 22"/>
          <p:cNvSpPr/>
          <p:nvPr/>
        </p:nvSpPr>
        <p:spPr>
          <a:xfrm>
            <a:off x="6190488" y="4178808"/>
            <a:ext cx="5349240"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437375" y="4425696"/>
            <a:ext cx="822960" cy="822960"/>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shield_lv.png"/>
          <p:cNvPicPr>
            <a:picLocks noChangeAspect="1"/>
          </p:cNvPicPr>
          <p:nvPr/>
        </p:nvPicPr>
        <p:blipFill>
          <a:blip r:embed="rId5"/>
          <a:stretch>
            <a:fillRect/>
          </a:stretch>
        </p:blipFill>
        <p:spPr>
          <a:xfrm>
            <a:off x="6618427" y="4606747"/>
            <a:ext cx="460857" cy="460857"/>
          </a:xfrm>
          <a:prstGeom prst="rect">
            <a:avLst/>
          </a:prstGeom>
        </p:spPr>
      </p:pic>
      <p:sp>
        <p:nvSpPr>
          <p:cNvPr id="26" name="TextBox 25"/>
          <p:cNvSpPr txBox="1"/>
          <p:nvPr/>
        </p:nvSpPr>
        <p:spPr>
          <a:xfrm>
            <a:off x="7424927" y="4434840"/>
            <a:ext cx="3886200" cy="457200"/>
          </a:xfrm>
          <a:prstGeom prst="rect">
            <a:avLst/>
          </a:prstGeom>
          <a:noFill/>
        </p:spPr>
        <p:txBody>
          <a:bodyPr wrap="square" lIns="0" tIns="0" rIns="0" bIns="0" anchor="t">
            <a:spAutoFit/>
          </a:bodyPr>
          <a:lstStyle/>
          <a:p>
            <a:pPr algn="l">
              <a:lnSpc>
                <a:spcPct val="102000"/>
              </a:lnSpc>
              <a:spcBef>
                <a:spcPts val="0"/>
              </a:spcBef>
              <a:spcAft>
                <a:spcPts val="400"/>
              </a:spcAft>
            </a:pPr>
            <a:r>
              <a:rPr sz="1650" b="1" i="0">
                <a:solidFill>
                  <a:srgbClr val="16251A"/>
                </a:solidFill>
                <a:latin typeface="Cambria"/>
              </a:rPr>
              <a:t>04  Protéger les forêts sous pression</a:t>
            </a:r>
          </a:p>
        </p:txBody>
      </p:sp>
      <p:sp>
        <p:nvSpPr>
          <p:cNvPr id="27" name="TextBox 26"/>
          <p:cNvSpPr txBox="1"/>
          <p:nvPr/>
        </p:nvSpPr>
        <p:spPr>
          <a:xfrm>
            <a:off x="7424927" y="4965192"/>
            <a:ext cx="3886200" cy="914400"/>
          </a:xfrm>
          <a:prstGeom prst="rect">
            <a:avLst/>
          </a:prstGeom>
          <a:noFill/>
        </p:spPr>
        <p:txBody>
          <a:bodyPr wrap="square" lIns="0" tIns="0" rIns="0" bIns="0" anchor="t">
            <a:spAutoFit/>
          </a:bodyPr>
          <a:lstStyle/>
          <a:p>
            <a:pPr algn="l">
              <a:lnSpc>
                <a:spcPct val="105000"/>
              </a:lnSpc>
              <a:spcBef>
                <a:spcPts val="0"/>
              </a:spcBef>
              <a:spcAft>
                <a:spcPts val="400"/>
              </a:spcAft>
            </a:pPr>
            <a:r>
              <a:rPr sz="1250" b="0" i="0">
                <a:solidFill>
                  <a:srgbClr val="16251A"/>
                </a:solidFill>
                <a:latin typeface="Calibri"/>
              </a:rPr>
              <a:t>Cibler les Plateaux et la Centrale, qui portent l'essentiel du couvert classé.</a:t>
            </a:r>
          </a:p>
        </p:txBody>
      </p:sp>
      <p:sp>
        <p:nvSpPr>
          <p:cNvPr id="28" name="TextBox 27"/>
          <p:cNvSpPr txBox="1"/>
          <p:nvPr/>
        </p:nvSpPr>
        <p:spPr>
          <a:xfrm>
            <a:off x="7424927" y="5916168"/>
            <a:ext cx="3886200" cy="320040"/>
          </a:xfrm>
          <a:prstGeom prst="rect">
            <a:avLst/>
          </a:prstGeom>
          <a:noFill/>
        </p:spPr>
        <p:txBody>
          <a:bodyPr wrap="square" lIns="0" tIns="0" rIns="0" bIns="0" anchor="t">
            <a:spAutoFit/>
          </a:bodyPr>
          <a:lstStyle/>
          <a:p>
            <a:pPr algn="l">
              <a:lnSpc>
                <a:spcPct val="102000"/>
              </a:lnSpc>
              <a:spcBef>
                <a:spcPts val="0"/>
              </a:spcBef>
              <a:spcAft>
                <a:spcPts val="400"/>
              </a:spcAft>
            </a:pPr>
            <a:r>
              <a:rPr sz="1000" b="1" i="0">
                <a:solidFill>
                  <a:srgbClr val="0A7C46"/>
                </a:solidFill>
                <a:latin typeface="Calibri"/>
              </a:rPr>
              <a:t>CIBLE : </a:t>
            </a:r>
            <a:r>
              <a:rPr sz="1000" b="0" i="0">
                <a:solidFill>
                  <a:srgbClr val="5E685C"/>
                </a:solidFill>
                <a:latin typeface="Calibri"/>
              </a:rPr>
              <a:t>Plateaux &amp; Centrale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881360" cy="640080"/>
          </a:xfrm>
          <a:prstGeom prst="rect">
            <a:avLst/>
          </a:prstGeom>
          <a:noFill/>
        </p:spPr>
        <p:txBody>
          <a:bodyPr wrap="square" lIns="0" tIns="0" rIns="0" bIns="0" anchor="t">
            <a:spAutoFit/>
          </a:bodyPr>
          <a:lstStyle/>
          <a:p>
            <a:pPr algn="l">
              <a:lnSpc>
                <a:spcPct val="102000"/>
              </a:lnSpc>
              <a:spcBef>
                <a:spcPts val="0"/>
              </a:spcBef>
              <a:spcAft>
                <a:spcPts val="400"/>
              </a:spcAft>
            </a:pPr>
            <a:r>
              <a:rPr sz="3200" b="1" i="0">
                <a:solidFill>
                  <a:srgbClr val="16251A"/>
                </a:solidFill>
                <a:latin typeface="Cambria"/>
              </a:rPr>
              <a:t>Le tableau de bord PANORAMA</a:t>
            </a:r>
          </a:p>
        </p:txBody>
      </p:sp>
      <p:sp>
        <p:nvSpPr>
          <p:cNvPr id="4" name="TextBox 3"/>
          <p:cNvSpPr txBox="1"/>
          <p:nvPr/>
        </p:nvSpPr>
        <p:spPr>
          <a:xfrm>
            <a:off x="658368" y="1097280"/>
            <a:ext cx="1088136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0" i="0">
                <a:solidFill>
                  <a:srgbClr val="5E685C"/>
                </a:solidFill>
                <a:latin typeface="Calibri"/>
              </a:rPr>
              <a:t>Une salle de contrôle interactive</a:t>
            </a:r>
          </a:p>
        </p:txBody>
      </p:sp>
      <p:sp>
        <p:nvSpPr>
          <p:cNvPr id="5" name="Rounded Rectangle 4"/>
          <p:cNvSpPr/>
          <p:nvPr/>
        </p:nvSpPr>
        <p:spPr>
          <a:xfrm>
            <a:off x="640080" y="1828800"/>
            <a:ext cx="3538728" cy="914400"/>
          </a:xfrm>
          <a:prstGeom prst="roundRect">
            <a:avLst>
              <a:gd name="adj" fmla="val 10000"/>
            </a:avLst>
          </a:prstGeom>
          <a:solidFill>
            <a:srgbClr val="F3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86967" y="1984248"/>
            <a:ext cx="603504" cy="603504"/>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bolt_good.png"/>
          <p:cNvPicPr>
            <a:picLocks noChangeAspect="1"/>
          </p:cNvPicPr>
          <p:nvPr/>
        </p:nvPicPr>
        <p:blipFill>
          <a:blip r:embed="rId2"/>
          <a:stretch>
            <a:fillRect/>
          </a:stretch>
        </p:blipFill>
        <p:spPr>
          <a:xfrm>
            <a:off x="1019738" y="2117018"/>
            <a:ext cx="337962" cy="337962"/>
          </a:xfrm>
          <a:prstGeom prst="rect">
            <a:avLst/>
          </a:prstGeom>
        </p:spPr>
      </p:pic>
      <p:sp>
        <p:nvSpPr>
          <p:cNvPr id="8" name="TextBox 7"/>
          <p:cNvSpPr txBox="1"/>
          <p:nvPr/>
        </p:nvSpPr>
        <p:spPr>
          <a:xfrm>
            <a:off x="1600200" y="1975104"/>
            <a:ext cx="2441448"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Vue</a:t>
            </a:r>
          </a:p>
        </p:txBody>
      </p:sp>
      <p:sp>
        <p:nvSpPr>
          <p:cNvPr id="9" name="TextBox 8"/>
          <p:cNvSpPr txBox="1"/>
          <p:nvPr/>
        </p:nvSpPr>
        <p:spPr>
          <a:xfrm>
            <a:off x="1600200" y="2331720"/>
            <a:ext cx="2441448" cy="320040"/>
          </a:xfrm>
          <a:prstGeom prst="rect">
            <a:avLst/>
          </a:prstGeom>
          <a:noFill/>
        </p:spPr>
        <p:txBody>
          <a:bodyPr wrap="square" lIns="0" tIns="0" rIns="0" bIns="0" anchor="t">
            <a:spAutoFit/>
          </a:bodyPr>
          <a:lstStyle/>
          <a:p>
            <a:pPr algn="l">
              <a:lnSpc>
                <a:spcPct val="102000"/>
              </a:lnSpc>
              <a:spcBef>
                <a:spcPts val="0"/>
              </a:spcBef>
              <a:spcAft>
                <a:spcPts val="400"/>
              </a:spcAft>
            </a:pPr>
            <a:r>
              <a:rPr sz="1150" b="0" i="0">
                <a:solidFill>
                  <a:srgbClr val="5E685C"/>
                </a:solidFill>
                <a:latin typeface="Calibri"/>
              </a:rPr>
              <a:t>Le Togo en un écran</a:t>
            </a:r>
          </a:p>
        </p:txBody>
      </p:sp>
      <p:sp>
        <p:nvSpPr>
          <p:cNvPr id="10" name="Rounded Rectangle 9"/>
          <p:cNvSpPr/>
          <p:nvPr/>
        </p:nvSpPr>
        <p:spPr>
          <a:xfrm>
            <a:off x="4325112" y="1828800"/>
            <a:ext cx="3538728" cy="914400"/>
          </a:xfrm>
          <a:prstGeom prst="roundRect">
            <a:avLst>
              <a:gd name="adj" fmla="val 10000"/>
            </a:avLst>
          </a:prstGeom>
          <a:solidFill>
            <a:srgbClr val="F3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572000" y="1984248"/>
            <a:ext cx="603504" cy="603504"/>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bolt_crit.png"/>
          <p:cNvPicPr>
            <a:picLocks noChangeAspect="1"/>
          </p:cNvPicPr>
          <p:nvPr/>
        </p:nvPicPr>
        <p:blipFill>
          <a:blip r:embed="rId3"/>
          <a:stretch>
            <a:fillRect/>
          </a:stretch>
        </p:blipFill>
        <p:spPr>
          <a:xfrm>
            <a:off x="4704770" y="2117018"/>
            <a:ext cx="337962" cy="337962"/>
          </a:xfrm>
          <a:prstGeom prst="rect">
            <a:avLst/>
          </a:prstGeom>
        </p:spPr>
      </p:pic>
      <p:sp>
        <p:nvSpPr>
          <p:cNvPr id="13" name="TextBox 12"/>
          <p:cNvSpPr txBox="1"/>
          <p:nvPr/>
        </p:nvSpPr>
        <p:spPr>
          <a:xfrm>
            <a:off x="5285232" y="1975104"/>
            <a:ext cx="2441448"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Élec</a:t>
            </a:r>
          </a:p>
        </p:txBody>
      </p:sp>
      <p:sp>
        <p:nvSpPr>
          <p:cNvPr id="14" name="TextBox 13"/>
          <p:cNvSpPr txBox="1"/>
          <p:nvPr/>
        </p:nvSpPr>
        <p:spPr>
          <a:xfrm>
            <a:off x="5285232" y="2331720"/>
            <a:ext cx="2441448" cy="320040"/>
          </a:xfrm>
          <a:prstGeom prst="rect">
            <a:avLst/>
          </a:prstGeom>
          <a:noFill/>
        </p:spPr>
        <p:txBody>
          <a:bodyPr wrap="square" lIns="0" tIns="0" rIns="0" bIns="0" anchor="t">
            <a:spAutoFit/>
          </a:bodyPr>
          <a:lstStyle/>
          <a:p>
            <a:pPr algn="l">
              <a:lnSpc>
                <a:spcPct val="102000"/>
              </a:lnSpc>
              <a:spcBef>
                <a:spcPts val="0"/>
              </a:spcBef>
              <a:spcAft>
                <a:spcPts val="400"/>
              </a:spcAft>
            </a:pPr>
            <a:r>
              <a:rPr sz="1150" b="0" i="0">
                <a:solidFill>
                  <a:srgbClr val="5E685C"/>
                </a:solidFill>
                <a:latin typeface="Calibri"/>
              </a:rPr>
              <a:t>Fracture &amp; réseau</a:t>
            </a:r>
          </a:p>
        </p:txBody>
      </p:sp>
      <p:sp>
        <p:nvSpPr>
          <p:cNvPr id="15" name="Rounded Rectangle 14"/>
          <p:cNvSpPr/>
          <p:nvPr/>
        </p:nvSpPr>
        <p:spPr>
          <a:xfrm>
            <a:off x="8010144" y="1828800"/>
            <a:ext cx="3538728" cy="914400"/>
          </a:xfrm>
          <a:prstGeom prst="roundRect">
            <a:avLst>
              <a:gd name="adj" fmla="val 10000"/>
            </a:avLst>
          </a:prstGeom>
          <a:solidFill>
            <a:srgbClr val="F3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57031" y="1984248"/>
            <a:ext cx="603504" cy="603504"/>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tree_good.png"/>
          <p:cNvPicPr>
            <a:picLocks noChangeAspect="1"/>
          </p:cNvPicPr>
          <p:nvPr/>
        </p:nvPicPr>
        <p:blipFill>
          <a:blip r:embed="rId4"/>
          <a:stretch>
            <a:fillRect/>
          </a:stretch>
        </p:blipFill>
        <p:spPr>
          <a:xfrm>
            <a:off x="8389802" y="2117018"/>
            <a:ext cx="337962" cy="337962"/>
          </a:xfrm>
          <a:prstGeom prst="rect">
            <a:avLst/>
          </a:prstGeom>
        </p:spPr>
      </p:pic>
      <p:sp>
        <p:nvSpPr>
          <p:cNvPr id="18" name="TextBox 17"/>
          <p:cNvSpPr txBox="1"/>
          <p:nvPr/>
        </p:nvSpPr>
        <p:spPr>
          <a:xfrm>
            <a:off x="8970264" y="1975104"/>
            <a:ext cx="2441448"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Bois</a:t>
            </a:r>
          </a:p>
        </p:txBody>
      </p:sp>
      <p:sp>
        <p:nvSpPr>
          <p:cNvPr id="19" name="TextBox 18"/>
          <p:cNvSpPr txBox="1"/>
          <p:nvPr/>
        </p:nvSpPr>
        <p:spPr>
          <a:xfrm>
            <a:off x="8970264" y="2331720"/>
            <a:ext cx="2441448" cy="320040"/>
          </a:xfrm>
          <a:prstGeom prst="rect">
            <a:avLst/>
          </a:prstGeom>
          <a:noFill/>
        </p:spPr>
        <p:txBody>
          <a:bodyPr wrap="square" lIns="0" tIns="0" rIns="0" bIns="0" anchor="t">
            <a:spAutoFit/>
          </a:bodyPr>
          <a:lstStyle/>
          <a:p>
            <a:pPr algn="l">
              <a:lnSpc>
                <a:spcPct val="102000"/>
              </a:lnSpc>
              <a:spcBef>
                <a:spcPts val="0"/>
              </a:spcBef>
              <a:spcAft>
                <a:spcPts val="400"/>
              </a:spcAft>
            </a:pPr>
            <a:r>
              <a:rPr sz="1150" b="0" i="0">
                <a:solidFill>
                  <a:srgbClr val="5E685C"/>
                </a:solidFill>
                <a:latin typeface="Calibri"/>
              </a:rPr>
              <a:t>Cuisson &amp; forêts</a:t>
            </a:r>
          </a:p>
        </p:txBody>
      </p:sp>
      <p:sp>
        <p:nvSpPr>
          <p:cNvPr id="20" name="Rounded Rectangle 19"/>
          <p:cNvSpPr/>
          <p:nvPr/>
        </p:nvSpPr>
        <p:spPr>
          <a:xfrm>
            <a:off x="640080" y="2880360"/>
            <a:ext cx="3538728" cy="914400"/>
          </a:xfrm>
          <a:prstGeom prst="roundRect">
            <a:avLst>
              <a:gd name="adj" fmla="val 10000"/>
            </a:avLst>
          </a:prstGeom>
          <a:solidFill>
            <a:srgbClr val="F3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86967" y="3035808"/>
            <a:ext cx="603504" cy="603504"/>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factory_warn.png"/>
          <p:cNvPicPr>
            <a:picLocks noChangeAspect="1"/>
          </p:cNvPicPr>
          <p:nvPr/>
        </p:nvPicPr>
        <p:blipFill>
          <a:blip r:embed="rId5"/>
          <a:stretch>
            <a:fillRect/>
          </a:stretch>
        </p:blipFill>
        <p:spPr>
          <a:xfrm>
            <a:off x="1019738" y="3168578"/>
            <a:ext cx="337962" cy="337962"/>
          </a:xfrm>
          <a:prstGeom prst="rect">
            <a:avLst/>
          </a:prstGeom>
        </p:spPr>
      </p:pic>
      <p:sp>
        <p:nvSpPr>
          <p:cNvPr id="23" name="TextBox 22"/>
          <p:cNvSpPr txBox="1"/>
          <p:nvPr/>
        </p:nvSpPr>
        <p:spPr>
          <a:xfrm>
            <a:off x="1600200" y="3026664"/>
            <a:ext cx="2441448"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GES</a:t>
            </a:r>
          </a:p>
        </p:txBody>
      </p:sp>
      <p:sp>
        <p:nvSpPr>
          <p:cNvPr id="24" name="TextBox 23"/>
          <p:cNvSpPr txBox="1"/>
          <p:nvPr/>
        </p:nvSpPr>
        <p:spPr>
          <a:xfrm>
            <a:off x="1600200" y="3383280"/>
            <a:ext cx="2441448" cy="320040"/>
          </a:xfrm>
          <a:prstGeom prst="rect">
            <a:avLst/>
          </a:prstGeom>
          <a:noFill/>
        </p:spPr>
        <p:txBody>
          <a:bodyPr wrap="square" lIns="0" tIns="0" rIns="0" bIns="0" anchor="t">
            <a:spAutoFit/>
          </a:bodyPr>
          <a:lstStyle/>
          <a:p>
            <a:pPr algn="l">
              <a:lnSpc>
                <a:spcPct val="102000"/>
              </a:lnSpc>
              <a:spcBef>
                <a:spcPts val="0"/>
              </a:spcBef>
              <a:spcAft>
                <a:spcPts val="400"/>
              </a:spcAft>
            </a:pPr>
            <a:r>
              <a:rPr sz="1150" b="0" i="0">
                <a:solidFill>
                  <a:srgbClr val="5E685C"/>
                </a:solidFill>
                <a:latin typeface="Calibri"/>
              </a:rPr>
              <a:t>Émissions</a:t>
            </a:r>
          </a:p>
        </p:txBody>
      </p:sp>
      <p:sp>
        <p:nvSpPr>
          <p:cNvPr id="25" name="Rounded Rectangle 24"/>
          <p:cNvSpPr/>
          <p:nvPr/>
        </p:nvSpPr>
        <p:spPr>
          <a:xfrm>
            <a:off x="4325112" y="2880360"/>
            <a:ext cx="3538728" cy="914400"/>
          </a:xfrm>
          <a:prstGeom prst="roundRect">
            <a:avLst>
              <a:gd name="adj" fmla="val 10000"/>
            </a:avLst>
          </a:prstGeom>
          <a:solidFill>
            <a:srgbClr val="F3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572000" y="3035808"/>
            <a:ext cx="603504" cy="603504"/>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thermo_warn.png"/>
          <p:cNvPicPr>
            <a:picLocks noChangeAspect="1"/>
          </p:cNvPicPr>
          <p:nvPr/>
        </p:nvPicPr>
        <p:blipFill>
          <a:blip r:embed="rId6"/>
          <a:stretch>
            <a:fillRect/>
          </a:stretch>
        </p:blipFill>
        <p:spPr>
          <a:xfrm>
            <a:off x="4704770" y="3168578"/>
            <a:ext cx="337962" cy="337962"/>
          </a:xfrm>
          <a:prstGeom prst="rect">
            <a:avLst/>
          </a:prstGeom>
        </p:spPr>
      </p:pic>
      <p:sp>
        <p:nvSpPr>
          <p:cNvPr id="28" name="TextBox 27"/>
          <p:cNvSpPr txBox="1"/>
          <p:nvPr/>
        </p:nvSpPr>
        <p:spPr>
          <a:xfrm>
            <a:off x="5285232" y="3026664"/>
            <a:ext cx="2441448"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Climat</a:t>
            </a:r>
          </a:p>
        </p:txBody>
      </p:sp>
      <p:sp>
        <p:nvSpPr>
          <p:cNvPr id="29" name="TextBox 28"/>
          <p:cNvSpPr txBox="1"/>
          <p:nvPr/>
        </p:nvSpPr>
        <p:spPr>
          <a:xfrm>
            <a:off x="5285232" y="3383280"/>
            <a:ext cx="2441448" cy="320040"/>
          </a:xfrm>
          <a:prstGeom prst="rect">
            <a:avLst/>
          </a:prstGeom>
          <a:noFill/>
        </p:spPr>
        <p:txBody>
          <a:bodyPr wrap="square" lIns="0" tIns="0" rIns="0" bIns="0" anchor="t">
            <a:spAutoFit/>
          </a:bodyPr>
          <a:lstStyle/>
          <a:p>
            <a:pPr algn="l">
              <a:lnSpc>
                <a:spcPct val="102000"/>
              </a:lnSpc>
              <a:spcBef>
                <a:spcPts val="0"/>
              </a:spcBef>
              <a:spcAft>
                <a:spcPts val="400"/>
              </a:spcAft>
            </a:pPr>
            <a:r>
              <a:rPr sz="1150" b="0" i="0">
                <a:solidFill>
                  <a:srgbClr val="5E685C"/>
                </a:solidFill>
                <a:latin typeface="Calibri"/>
              </a:rPr>
              <a:t>Sud → Nord</a:t>
            </a:r>
          </a:p>
        </p:txBody>
      </p:sp>
      <p:sp>
        <p:nvSpPr>
          <p:cNvPr id="30" name="Rounded Rectangle 29"/>
          <p:cNvSpPr/>
          <p:nvPr/>
        </p:nvSpPr>
        <p:spPr>
          <a:xfrm>
            <a:off x="8010144" y="2880360"/>
            <a:ext cx="3538728" cy="914400"/>
          </a:xfrm>
          <a:prstGeom prst="roundRect">
            <a:avLst>
              <a:gd name="adj" fmla="val 10000"/>
            </a:avLst>
          </a:prstGeom>
          <a:solidFill>
            <a:srgbClr val="F3F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257031" y="3035808"/>
            <a:ext cx="603504" cy="603504"/>
          </a:xfrm>
          <a:prstGeom prst="ellipse">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shield_lv.png"/>
          <p:cNvPicPr>
            <a:picLocks noChangeAspect="1"/>
          </p:cNvPicPr>
          <p:nvPr/>
        </p:nvPicPr>
        <p:blipFill>
          <a:blip r:embed="rId7"/>
          <a:stretch>
            <a:fillRect/>
          </a:stretch>
        </p:blipFill>
        <p:spPr>
          <a:xfrm>
            <a:off x="8389802" y="3168578"/>
            <a:ext cx="337962" cy="337962"/>
          </a:xfrm>
          <a:prstGeom prst="rect">
            <a:avLst/>
          </a:prstGeom>
        </p:spPr>
      </p:pic>
      <p:sp>
        <p:nvSpPr>
          <p:cNvPr id="33" name="TextBox 32"/>
          <p:cNvSpPr txBox="1"/>
          <p:nvPr/>
        </p:nvSpPr>
        <p:spPr>
          <a:xfrm>
            <a:off x="8970264" y="3026664"/>
            <a:ext cx="2441448"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1" i="0">
                <a:solidFill>
                  <a:srgbClr val="16251A"/>
                </a:solidFill>
                <a:latin typeface="Calibri"/>
              </a:rPr>
              <a:t>Agir</a:t>
            </a:r>
          </a:p>
        </p:txBody>
      </p:sp>
      <p:sp>
        <p:nvSpPr>
          <p:cNvPr id="34" name="TextBox 33"/>
          <p:cNvSpPr txBox="1"/>
          <p:nvPr/>
        </p:nvSpPr>
        <p:spPr>
          <a:xfrm>
            <a:off x="8970264" y="3383280"/>
            <a:ext cx="2441448" cy="320040"/>
          </a:xfrm>
          <a:prstGeom prst="rect">
            <a:avLst/>
          </a:prstGeom>
          <a:noFill/>
        </p:spPr>
        <p:txBody>
          <a:bodyPr wrap="square" lIns="0" tIns="0" rIns="0" bIns="0" anchor="t">
            <a:spAutoFit/>
          </a:bodyPr>
          <a:lstStyle/>
          <a:p>
            <a:pPr algn="l">
              <a:lnSpc>
                <a:spcPct val="102000"/>
              </a:lnSpc>
              <a:spcBef>
                <a:spcPts val="0"/>
              </a:spcBef>
              <a:spcAft>
                <a:spcPts val="400"/>
              </a:spcAft>
            </a:pPr>
            <a:r>
              <a:rPr sz="1150" b="0" i="0">
                <a:solidFill>
                  <a:srgbClr val="5E685C"/>
                </a:solidFill>
                <a:latin typeface="Calibri"/>
              </a:rPr>
              <a:t>Recommandations</a:t>
            </a:r>
          </a:p>
        </p:txBody>
      </p:sp>
      <p:sp>
        <p:nvSpPr>
          <p:cNvPr id="35" name="Rounded Rectangle 34"/>
          <p:cNvSpPr/>
          <p:nvPr/>
        </p:nvSpPr>
        <p:spPr>
          <a:xfrm>
            <a:off x="640080" y="4114800"/>
            <a:ext cx="10908792" cy="2194560"/>
          </a:xfrm>
          <a:prstGeom prst="roundRect">
            <a:avLst>
              <a:gd name="adj" fmla="val 5000"/>
            </a:avLst>
          </a:prstGeom>
          <a:solidFill>
            <a:srgbClr val="E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14400" y="4343400"/>
            <a:ext cx="5120640" cy="365760"/>
          </a:xfrm>
          <a:prstGeom prst="rect">
            <a:avLst/>
          </a:prstGeom>
          <a:noFill/>
        </p:spPr>
        <p:txBody>
          <a:bodyPr wrap="square" lIns="0" tIns="0" rIns="0" bIns="0" anchor="t">
            <a:spAutoFit/>
          </a:bodyPr>
          <a:lstStyle/>
          <a:p>
            <a:pPr algn="l">
              <a:lnSpc>
                <a:spcPct val="102000"/>
              </a:lnSpc>
              <a:spcBef>
                <a:spcPts val="0"/>
              </a:spcBef>
              <a:spcAft>
                <a:spcPts val="400"/>
              </a:spcAft>
            </a:pPr>
            <a:r>
              <a:rPr sz="1200" b="1" i="0">
                <a:solidFill>
                  <a:srgbClr val="0A7C46"/>
                </a:solidFill>
                <a:latin typeface="Calibri"/>
              </a:rPr>
              <a:t>CE QUI LE REND VIVANT</a:t>
            </a:r>
          </a:p>
        </p:txBody>
      </p:sp>
      <p:sp>
        <p:nvSpPr>
          <p:cNvPr id="37" name="TextBox 36"/>
          <p:cNvSpPr txBox="1"/>
          <p:nvPr/>
        </p:nvSpPr>
        <p:spPr>
          <a:xfrm>
            <a:off x="914400" y="4754880"/>
            <a:ext cx="5852160" cy="1463040"/>
          </a:xfrm>
          <a:prstGeom prst="rect">
            <a:avLst/>
          </a:prstGeom>
          <a:noFill/>
        </p:spPr>
        <p:txBody>
          <a:bodyPr wrap="square" lIns="0" tIns="0" rIns="0" bIns="0" anchor="t">
            <a:spAutoFit/>
          </a:bodyPr>
          <a:lstStyle/>
          <a:p>
            <a:pPr algn="l">
              <a:lnSpc>
                <a:spcPct val="105000"/>
              </a:lnSpc>
              <a:spcBef>
                <a:spcPts val="0"/>
              </a:spcBef>
              <a:spcAft>
                <a:spcPts val="800"/>
              </a:spcAft>
            </a:pPr>
            <a:r>
              <a:rPr sz="1350" b="1" i="0">
                <a:solidFill>
                  <a:srgbClr val="16251A"/>
                </a:solidFill>
                <a:latin typeface="Calibri"/>
              </a:rPr>
              <a:t>Carte pilote.  </a:t>
            </a:r>
            <a:r>
              <a:rPr sz="1350" b="0" i="0">
                <a:solidFill>
                  <a:srgbClr val="16251A"/>
                </a:solidFill>
                <a:latin typeface="Calibri"/>
              </a:rPr>
              <a:t>53 forêts classées + 10 stations ; cliquer une forêt filtre tout.</a:t>
            </a:r>
          </a:p>
          <a:p>
            <a:pPr algn="l">
              <a:lnSpc>
                <a:spcPct val="105000"/>
              </a:lnSpc>
              <a:spcBef>
                <a:spcPts val="0"/>
              </a:spcBef>
              <a:spcAft>
                <a:spcPts val="800"/>
              </a:spcAft>
            </a:pPr>
            <a:r>
              <a:rPr sz="1350" b="1" i="0">
                <a:solidFill>
                  <a:srgbClr val="16251A"/>
                </a:solidFill>
                <a:latin typeface="Calibri"/>
              </a:rPr>
              <a:t>Filtre régional.  </a:t>
            </a:r>
            <a:r>
              <a:rPr sz="1350" b="0" i="0">
                <a:solidFill>
                  <a:srgbClr val="16251A"/>
                </a:solidFill>
                <a:latin typeface="Calibri"/>
              </a:rPr>
              <a:t>Les KPI, la carte et l'inventaire se recalculent par région.</a:t>
            </a:r>
          </a:p>
          <a:p>
            <a:pPr algn="l">
              <a:lnSpc>
                <a:spcPct val="105000"/>
              </a:lnSpc>
              <a:spcBef>
                <a:spcPts val="0"/>
              </a:spcBef>
              <a:spcAft>
                <a:spcPts val="800"/>
              </a:spcAft>
            </a:pPr>
            <a:r>
              <a:rPr sz="1350" b="1" i="0">
                <a:solidFill>
                  <a:srgbClr val="16251A"/>
                </a:solidFill>
                <a:latin typeface="Calibri"/>
              </a:rPr>
              <a:t>Honnêteté des données.  </a:t>
            </a:r>
            <a:r>
              <a:rPr sz="1350" b="0" i="0">
                <a:solidFill>
                  <a:srgbClr val="16251A"/>
                </a:solidFill>
                <a:latin typeface="Calibri"/>
              </a:rPr>
              <a:t>Chaque vue indique quand une donnée n'existe qu'au niveau national.</a:t>
            </a:r>
          </a:p>
        </p:txBody>
      </p:sp>
      <p:sp>
        <p:nvSpPr>
          <p:cNvPr id="38" name="Rounded Rectangle 37"/>
          <p:cNvSpPr/>
          <p:nvPr/>
        </p:nvSpPr>
        <p:spPr>
          <a:xfrm>
            <a:off x="7040880" y="4480560"/>
            <a:ext cx="4206240" cy="1508760"/>
          </a:xfrm>
          <a:prstGeom prst="roundRect">
            <a:avLst>
              <a:gd name="adj" fmla="val 8000"/>
            </a:avLst>
          </a:prstGeom>
          <a:solidFill>
            <a:srgbClr val="FFFFFF"/>
          </a:solidFill>
          <a:ln w="12700">
            <a:solidFill>
              <a:srgbClr val="DDE1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315200" y="4681728"/>
            <a:ext cx="3657600" cy="365760"/>
          </a:xfrm>
          <a:prstGeom prst="rect">
            <a:avLst/>
          </a:prstGeom>
          <a:noFill/>
        </p:spPr>
        <p:txBody>
          <a:bodyPr wrap="square" lIns="0" tIns="0" rIns="0" bIns="0" anchor="t">
            <a:spAutoFit/>
          </a:bodyPr>
          <a:lstStyle/>
          <a:p>
            <a:pPr algn="l">
              <a:lnSpc>
                <a:spcPct val="102000"/>
              </a:lnSpc>
              <a:spcBef>
                <a:spcPts val="0"/>
              </a:spcBef>
              <a:spcAft>
                <a:spcPts val="400"/>
              </a:spcAft>
            </a:pPr>
            <a:r>
              <a:rPr sz="1200" b="1" i="0">
                <a:solidFill>
                  <a:srgbClr val="0A7C46"/>
                </a:solidFill>
                <a:latin typeface="Calibri"/>
              </a:rPr>
              <a:t>ACCÈS</a:t>
            </a:r>
          </a:p>
        </p:txBody>
      </p:sp>
      <p:sp>
        <p:nvSpPr>
          <p:cNvPr id="40" name="TextBox 39"/>
          <p:cNvSpPr txBox="1"/>
          <p:nvPr/>
        </p:nvSpPr>
        <p:spPr>
          <a:xfrm>
            <a:off x="7315200" y="5029200"/>
            <a:ext cx="3703320" cy="914400"/>
          </a:xfrm>
          <a:prstGeom prst="rect">
            <a:avLst/>
          </a:prstGeom>
          <a:noFill/>
        </p:spPr>
        <p:txBody>
          <a:bodyPr wrap="square" lIns="0" tIns="0" rIns="0" bIns="0" anchor="t">
            <a:spAutoFit/>
          </a:bodyPr>
          <a:lstStyle/>
          <a:p>
            <a:pPr algn="l">
              <a:lnSpc>
                <a:spcPct val="105000"/>
              </a:lnSpc>
              <a:spcBef>
                <a:spcPts val="0"/>
              </a:spcBef>
              <a:spcAft>
                <a:spcPts val="400"/>
              </a:spcAft>
            </a:pPr>
            <a:r>
              <a:rPr sz="1250" b="0" i="0">
                <a:solidFill>
                  <a:srgbClr val="16251A"/>
                </a:solidFill>
                <a:latin typeface="Calibri"/>
              </a:rPr>
              <a:t>Application web (Python / Dash).</a:t>
            </a:r>
          </a:p>
          <a:p>
            <a:pPr algn="l">
              <a:lnSpc>
                <a:spcPct val="105000"/>
              </a:lnSpc>
              <a:spcBef>
                <a:spcPts val="0"/>
              </a:spcBef>
              <a:spcAft>
                <a:spcPts val="400"/>
              </a:spcAft>
            </a:pPr>
            <a:r>
              <a:rPr sz="1200" b="0" i="0">
                <a:solidFill>
                  <a:srgbClr val="16251A"/>
                </a:solidFill>
                <a:latin typeface="Consolas"/>
              </a:rPr>
              <a:t>pip install -r requirements.txt</a:t>
            </a:r>
          </a:p>
          <a:p>
            <a:pPr algn="l">
              <a:lnSpc>
                <a:spcPct val="105000"/>
              </a:lnSpc>
              <a:spcBef>
                <a:spcPts val="0"/>
              </a:spcBef>
              <a:spcAft>
                <a:spcPts val="400"/>
              </a:spcAft>
            </a:pPr>
            <a:r>
              <a:rPr sz="1200" b="0" i="0">
                <a:solidFill>
                  <a:srgbClr val="16251A"/>
                </a:solidFill>
                <a:latin typeface="Consolas"/>
              </a:rPr>
              <a:t>python app.py  →  localhost:8050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5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0881360" cy="640080"/>
          </a:xfrm>
          <a:prstGeom prst="rect">
            <a:avLst/>
          </a:prstGeom>
          <a:noFill/>
        </p:spPr>
        <p:txBody>
          <a:bodyPr wrap="square" lIns="0" tIns="0" rIns="0" bIns="0" anchor="t">
            <a:spAutoFit/>
          </a:bodyPr>
          <a:lstStyle/>
          <a:p>
            <a:pPr algn="l">
              <a:lnSpc>
                <a:spcPct val="102000"/>
              </a:lnSpc>
              <a:spcBef>
                <a:spcPts val="0"/>
              </a:spcBef>
              <a:spcAft>
                <a:spcPts val="400"/>
              </a:spcAft>
            </a:pPr>
            <a:r>
              <a:rPr sz="3200" b="1" i="0">
                <a:solidFill>
                  <a:srgbClr val="FFFFFF"/>
                </a:solidFill>
                <a:latin typeface="Cambria"/>
              </a:rPr>
              <a:t>Méthode, sources &amp; limites</a:t>
            </a:r>
          </a:p>
        </p:txBody>
      </p:sp>
      <p:sp>
        <p:nvSpPr>
          <p:cNvPr id="4" name="TextBox 3"/>
          <p:cNvSpPr txBox="1"/>
          <p:nvPr/>
        </p:nvSpPr>
        <p:spPr>
          <a:xfrm>
            <a:off x="658368" y="1097280"/>
            <a:ext cx="10881360" cy="365760"/>
          </a:xfrm>
          <a:prstGeom prst="rect">
            <a:avLst/>
          </a:prstGeom>
          <a:noFill/>
        </p:spPr>
        <p:txBody>
          <a:bodyPr wrap="square" lIns="0" tIns="0" rIns="0" bIns="0" anchor="t">
            <a:spAutoFit/>
          </a:bodyPr>
          <a:lstStyle/>
          <a:p>
            <a:pPr algn="l">
              <a:lnSpc>
                <a:spcPct val="102000"/>
              </a:lnSpc>
              <a:spcBef>
                <a:spcPts val="0"/>
              </a:spcBef>
              <a:spcAft>
                <a:spcPts val="400"/>
              </a:spcAft>
            </a:pPr>
            <a:r>
              <a:rPr sz="1500" b="0" i="0">
                <a:solidFill>
                  <a:srgbClr val="B8D8C6"/>
                </a:solidFill>
                <a:latin typeface="Calibri"/>
              </a:rPr>
              <a:t>Transparence sur les données, et sur ce qu'elles ne disent pas.</a:t>
            </a:r>
          </a:p>
        </p:txBody>
      </p:sp>
      <p:sp>
        <p:nvSpPr>
          <p:cNvPr id="5" name="Rounded Rectangle 4"/>
          <p:cNvSpPr/>
          <p:nvPr/>
        </p:nvSpPr>
        <p:spPr>
          <a:xfrm>
            <a:off x="640080" y="1828800"/>
            <a:ext cx="3538728" cy="3383280"/>
          </a:xfrm>
          <a:prstGeom prst="roundRect">
            <a:avLst>
              <a:gd name="adj" fmla="val 6000"/>
            </a:avLst>
          </a:prstGeom>
          <a:solidFill>
            <a:srgbClr val="0C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057400"/>
            <a:ext cx="2990088" cy="365760"/>
          </a:xfrm>
          <a:prstGeom prst="rect">
            <a:avLst/>
          </a:prstGeom>
          <a:noFill/>
        </p:spPr>
        <p:txBody>
          <a:bodyPr wrap="square" lIns="0" tIns="0" rIns="0" bIns="0" anchor="t">
            <a:spAutoFit/>
          </a:bodyPr>
          <a:lstStyle/>
          <a:p>
            <a:pPr algn="l">
              <a:lnSpc>
                <a:spcPct val="102000"/>
              </a:lnSpc>
              <a:spcBef>
                <a:spcPts val="0"/>
              </a:spcBef>
              <a:spcAft>
                <a:spcPts val="400"/>
              </a:spcAft>
            </a:pPr>
            <a:r>
              <a:rPr sz="1300" b="1" i="0">
                <a:solidFill>
                  <a:srgbClr val="FFCE00"/>
                </a:solidFill>
                <a:latin typeface="Calibri"/>
              </a:rPr>
              <a:t>SOURCES</a:t>
            </a:r>
          </a:p>
        </p:txBody>
      </p:sp>
      <p:sp>
        <p:nvSpPr>
          <p:cNvPr id="7" name="TextBox 6"/>
          <p:cNvSpPr txBox="1"/>
          <p:nvPr/>
        </p:nvSpPr>
        <p:spPr>
          <a:xfrm>
            <a:off x="914400" y="2514600"/>
            <a:ext cx="2990088" cy="2560320"/>
          </a:xfrm>
          <a:prstGeom prst="rect">
            <a:avLst/>
          </a:prstGeom>
          <a:noFill/>
        </p:spPr>
        <p:txBody>
          <a:bodyPr wrap="square" lIns="0" tIns="0" rIns="0" bIns="0" anchor="t">
            <a:spAutoFit/>
          </a:bodyPr>
          <a:lstStyle/>
          <a:p>
            <a:pPr algn="l">
              <a:lnSpc>
                <a:spcPct val="108000"/>
              </a:lnSpc>
              <a:spcBef>
                <a:spcPts val="0"/>
              </a:spcBef>
              <a:spcAft>
                <a:spcPts val="1000"/>
              </a:spcAft>
            </a:pPr>
            <a:r>
              <a:rPr sz="1250" b="1" i="0" dirty="0">
                <a:solidFill>
                  <a:srgbClr val="FFCE00"/>
                </a:solidFill>
                <a:latin typeface="Calibri"/>
              </a:rPr>
              <a:t>•  </a:t>
            </a:r>
            <a:r>
              <a:rPr sz="1250" b="0" i="0" dirty="0">
                <a:solidFill>
                  <a:srgbClr val="FFFFFF"/>
                </a:solidFill>
                <a:latin typeface="Calibri"/>
              </a:rPr>
              <a:t>6 jeux de </a:t>
            </a:r>
            <a:r>
              <a:rPr sz="1250" b="0" i="0" dirty="0" err="1">
                <a:solidFill>
                  <a:srgbClr val="FFFFFF"/>
                </a:solidFill>
                <a:latin typeface="Calibri"/>
              </a:rPr>
              <a:t>données</a:t>
            </a:r>
            <a:r>
              <a:rPr sz="1250" b="0" i="0" dirty="0">
                <a:solidFill>
                  <a:srgbClr val="FFFFFF"/>
                </a:solidFill>
                <a:latin typeface="Calibri"/>
              </a:rPr>
              <a:t> </a:t>
            </a:r>
            <a:r>
              <a:rPr sz="1250" b="0" i="0" dirty="0" err="1">
                <a:solidFill>
                  <a:srgbClr val="FFFFFF"/>
                </a:solidFill>
                <a:latin typeface="Calibri"/>
              </a:rPr>
              <a:t>ouverts</a:t>
            </a:r>
            <a:r>
              <a:rPr sz="1250" b="0" i="0" dirty="0">
                <a:solidFill>
                  <a:srgbClr val="FFFFFF"/>
                </a:solidFill>
                <a:latin typeface="Calibri"/>
              </a:rPr>
              <a:t> du </a:t>
            </a:r>
            <a:r>
              <a:rPr sz="1250" b="0" i="0" dirty="0" err="1">
                <a:solidFill>
                  <a:srgbClr val="FFFFFF"/>
                </a:solidFill>
                <a:latin typeface="Calibri"/>
              </a:rPr>
              <a:t>défi</a:t>
            </a:r>
            <a:r>
              <a:rPr sz="1250" b="0" i="0" dirty="0">
                <a:solidFill>
                  <a:srgbClr val="FFFFFF"/>
                </a:solidFill>
                <a:latin typeface="Calibri"/>
              </a:rPr>
              <a:t> (WDI / opendata.gouv.tg).</a:t>
            </a:r>
          </a:p>
          <a:p>
            <a:pPr algn="l">
              <a:lnSpc>
                <a:spcPct val="108000"/>
              </a:lnSpc>
              <a:spcBef>
                <a:spcPts val="0"/>
              </a:spcBef>
              <a:spcAft>
                <a:spcPts val="1000"/>
              </a:spcAft>
            </a:pPr>
            <a:r>
              <a:rPr sz="1250" b="1" i="0" dirty="0">
                <a:solidFill>
                  <a:srgbClr val="FFCE00"/>
                </a:solidFill>
                <a:latin typeface="Calibri"/>
              </a:rPr>
              <a:t>•  </a:t>
            </a:r>
            <a:r>
              <a:rPr sz="1250" b="0" i="0" dirty="0">
                <a:solidFill>
                  <a:srgbClr val="FFFFFF"/>
                </a:solidFill>
                <a:latin typeface="Calibri"/>
              </a:rPr>
              <a:t>1 </a:t>
            </a:r>
            <a:r>
              <a:rPr sz="1250" b="0" i="0" dirty="0" err="1">
                <a:solidFill>
                  <a:srgbClr val="FFFFFF"/>
                </a:solidFill>
                <a:latin typeface="Calibri"/>
              </a:rPr>
              <a:t>seul</a:t>
            </a:r>
            <a:r>
              <a:rPr sz="1250" b="0" i="0" dirty="0">
                <a:solidFill>
                  <a:srgbClr val="FFFFFF"/>
                </a:solidFill>
                <a:latin typeface="Calibri"/>
              </a:rPr>
              <a:t> </a:t>
            </a:r>
            <a:r>
              <a:rPr sz="1250" b="0" i="0" dirty="0" err="1">
                <a:solidFill>
                  <a:srgbClr val="FFFFFF"/>
                </a:solidFill>
                <a:latin typeface="Calibri"/>
              </a:rPr>
              <a:t>ajout</a:t>
            </a:r>
            <a:r>
              <a:rPr sz="1250" b="0" i="0" dirty="0">
                <a:solidFill>
                  <a:srgbClr val="FFFFFF"/>
                </a:solidFill>
                <a:latin typeface="Calibri"/>
              </a:rPr>
              <a:t> </a:t>
            </a:r>
            <a:r>
              <a:rPr sz="1250" b="0" i="0" dirty="0" err="1">
                <a:solidFill>
                  <a:srgbClr val="FFFFFF"/>
                </a:solidFill>
                <a:latin typeface="Calibri"/>
              </a:rPr>
              <a:t>externe</a:t>
            </a:r>
            <a:r>
              <a:rPr sz="1250" b="0" i="0" dirty="0">
                <a:solidFill>
                  <a:srgbClr val="FFFFFF"/>
                </a:solidFill>
                <a:latin typeface="Calibri"/>
              </a:rPr>
              <a:t>, </a:t>
            </a:r>
            <a:r>
              <a:rPr sz="1250" b="0" i="0" dirty="0" err="1">
                <a:solidFill>
                  <a:srgbClr val="FFFFFF"/>
                </a:solidFill>
                <a:latin typeface="Calibri"/>
              </a:rPr>
              <a:t>purement</a:t>
            </a:r>
            <a:r>
              <a:rPr sz="1250" b="0" i="0" dirty="0">
                <a:solidFill>
                  <a:srgbClr val="FFFFFF"/>
                </a:solidFill>
                <a:latin typeface="Calibri"/>
              </a:rPr>
              <a:t> </a:t>
            </a:r>
            <a:r>
              <a:rPr sz="1250" b="0" i="0" dirty="0" err="1">
                <a:solidFill>
                  <a:srgbClr val="FFFFFF"/>
                </a:solidFill>
                <a:latin typeface="Calibri"/>
              </a:rPr>
              <a:t>cartographique</a:t>
            </a:r>
            <a:r>
              <a:rPr sz="1250" b="0" i="0" dirty="0">
                <a:solidFill>
                  <a:srgbClr val="FFFFFF"/>
                </a:solidFill>
                <a:latin typeface="Calibri"/>
              </a:rPr>
              <a:t> : </a:t>
            </a:r>
            <a:r>
              <a:rPr sz="1250" b="0" i="0" dirty="0" err="1">
                <a:solidFill>
                  <a:srgbClr val="FFFFFF"/>
                </a:solidFill>
                <a:latin typeface="Calibri"/>
              </a:rPr>
              <a:t>frontières</a:t>
            </a:r>
            <a:r>
              <a:rPr sz="1250" b="0" i="0" dirty="0">
                <a:solidFill>
                  <a:srgbClr val="FFFFFF"/>
                </a:solidFill>
                <a:latin typeface="Calibri"/>
              </a:rPr>
              <a:t> des 5 </a:t>
            </a:r>
            <a:r>
              <a:rPr sz="1250" b="0" i="0" dirty="0" err="1">
                <a:solidFill>
                  <a:srgbClr val="FFFFFF"/>
                </a:solidFill>
                <a:latin typeface="Calibri"/>
              </a:rPr>
              <a:t>régions</a:t>
            </a:r>
            <a:r>
              <a:rPr sz="1250" b="0" i="0" dirty="0">
                <a:solidFill>
                  <a:srgbClr val="FFFFFF"/>
                </a:solidFill>
                <a:latin typeface="Calibri"/>
              </a:rPr>
              <a:t> (</a:t>
            </a:r>
            <a:r>
              <a:rPr sz="1250" b="0" i="0" dirty="0" err="1">
                <a:solidFill>
                  <a:srgbClr val="FFFFFF"/>
                </a:solidFill>
                <a:latin typeface="Calibri"/>
              </a:rPr>
              <a:t>geoBoundaries</a:t>
            </a:r>
            <a:r>
              <a:rPr sz="1250" b="0" i="0" dirty="0">
                <a:solidFill>
                  <a:srgbClr val="FFFFFF"/>
                </a:solidFill>
                <a:latin typeface="Calibri"/>
              </a:rPr>
              <a:t>).</a:t>
            </a:r>
          </a:p>
        </p:txBody>
      </p:sp>
      <p:sp>
        <p:nvSpPr>
          <p:cNvPr id="8" name="Rounded Rectangle 7"/>
          <p:cNvSpPr/>
          <p:nvPr/>
        </p:nvSpPr>
        <p:spPr>
          <a:xfrm>
            <a:off x="4325112" y="1828800"/>
            <a:ext cx="3538728" cy="3383280"/>
          </a:xfrm>
          <a:prstGeom prst="roundRect">
            <a:avLst>
              <a:gd name="adj" fmla="val 6000"/>
            </a:avLst>
          </a:prstGeom>
          <a:solidFill>
            <a:srgbClr val="0C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99432" y="2057400"/>
            <a:ext cx="2990088" cy="365760"/>
          </a:xfrm>
          <a:prstGeom prst="rect">
            <a:avLst/>
          </a:prstGeom>
          <a:noFill/>
        </p:spPr>
        <p:txBody>
          <a:bodyPr wrap="square" lIns="0" tIns="0" rIns="0" bIns="0" anchor="t">
            <a:spAutoFit/>
          </a:bodyPr>
          <a:lstStyle/>
          <a:p>
            <a:pPr algn="l">
              <a:lnSpc>
                <a:spcPct val="102000"/>
              </a:lnSpc>
              <a:spcBef>
                <a:spcPts val="0"/>
              </a:spcBef>
              <a:spcAft>
                <a:spcPts val="400"/>
              </a:spcAft>
            </a:pPr>
            <a:r>
              <a:rPr sz="1300" b="1" i="0">
                <a:solidFill>
                  <a:srgbClr val="FFCE00"/>
                </a:solidFill>
                <a:latin typeface="Calibri"/>
              </a:rPr>
              <a:t>MÉTHODE</a:t>
            </a:r>
          </a:p>
        </p:txBody>
      </p:sp>
      <p:sp>
        <p:nvSpPr>
          <p:cNvPr id="10" name="TextBox 9"/>
          <p:cNvSpPr txBox="1"/>
          <p:nvPr/>
        </p:nvSpPr>
        <p:spPr>
          <a:xfrm>
            <a:off x="4599432" y="2514600"/>
            <a:ext cx="2990088" cy="741870"/>
          </a:xfrm>
          <a:prstGeom prst="rect">
            <a:avLst/>
          </a:prstGeom>
          <a:noFill/>
        </p:spPr>
        <p:txBody>
          <a:bodyPr wrap="square" lIns="0" tIns="0" rIns="0" bIns="0" anchor="t">
            <a:spAutoFit/>
          </a:bodyPr>
          <a:lstStyle/>
          <a:p>
            <a:pPr algn="l">
              <a:lnSpc>
                <a:spcPct val="108000"/>
              </a:lnSpc>
              <a:spcBef>
                <a:spcPts val="0"/>
              </a:spcBef>
              <a:spcAft>
                <a:spcPts val="1000"/>
              </a:spcAft>
            </a:pPr>
            <a:r>
              <a:rPr sz="1250" b="1" i="0" dirty="0">
                <a:solidFill>
                  <a:srgbClr val="FFCE00"/>
                </a:solidFill>
                <a:latin typeface="Calibri"/>
              </a:rPr>
              <a:t>•  </a:t>
            </a:r>
            <a:r>
              <a:rPr sz="1250" b="0" i="0" dirty="0" err="1">
                <a:solidFill>
                  <a:srgbClr val="FFFFFF"/>
                </a:solidFill>
                <a:latin typeface="Calibri"/>
              </a:rPr>
              <a:t>Nettoyage</a:t>
            </a:r>
            <a:r>
              <a:rPr sz="1250" b="0" i="0" dirty="0">
                <a:solidFill>
                  <a:srgbClr val="FFFFFF"/>
                </a:solidFill>
                <a:latin typeface="Calibri"/>
              </a:rPr>
              <a:t> et </a:t>
            </a:r>
            <a:r>
              <a:rPr sz="1250" b="0" i="0" dirty="0" err="1">
                <a:solidFill>
                  <a:srgbClr val="FFFFFF"/>
                </a:solidFill>
                <a:latin typeface="Calibri"/>
              </a:rPr>
              <a:t>calculs</a:t>
            </a:r>
            <a:r>
              <a:rPr sz="1250" b="0" i="0" dirty="0">
                <a:solidFill>
                  <a:srgbClr val="FFFFFF"/>
                </a:solidFill>
                <a:latin typeface="Calibri"/>
              </a:rPr>
              <a:t> (scripts </a:t>
            </a:r>
            <a:r>
              <a:rPr sz="1250" b="0" i="0" dirty="0" err="1">
                <a:solidFill>
                  <a:srgbClr val="FFFFFF"/>
                </a:solidFill>
                <a:latin typeface="Calibri"/>
              </a:rPr>
              <a:t>fournis</a:t>
            </a:r>
            <a:r>
              <a:rPr sz="1250" b="0" i="0" dirty="0">
                <a:solidFill>
                  <a:srgbClr val="FFFFFF"/>
                </a:solidFill>
                <a:latin typeface="Calibri"/>
              </a:rPr>
              <a:t>).</a:t>
            </a:r>
          </a:p>
          <a:p>
            <a:pPr algn="l">
              <a:lnSpc>
                <a:spcPct val="108000"/>
              </a:lnSpc>
              <a:spcBef>
                <a:spcPts val="0"/>
              </a:spcBef>
              <a:spcAft>
                <a:spcPts val="1000"/>
              </a:spcAft>
            </a:pPr>
            <a:r>
              <a:rPr sz="1250" b="1" i="0" dirty="0">
                <a:solidFill>
                  <a:srgbClr val="FFCE00"/>
                </a:solidFill>
                <a:latin typeface="Calibri"/>
              </a:rPr>
              <a:t>•  </a:t>
            </a:r>
            <a:r>
              <a:rPr sz="1250" b="0" i="0" dirty="0">
                <a:solidFill>
                  <a:srgbClr val="FFFFFF"/>
                </a:solidFill>
                <a:latin typeface="Calibri"/>
              </a:rPr>
              <a:t>KPI et tendances </a:t>
            </a:r>
            <a:r>
              <a:rPr sz="1250" b="0" i="0" dirty="0" err="1">
                <a:solidFill>
                  <a:srgbClr val="FFFFFF"/>
                </a:solidFill>
                <a:latin typeface="Calibri"/>
              </a:rPr>
              <a:t>calculés</a:t>
            </a:r>
            <a:r>
              <a:rPr sz="1250" b="0" i="0" dirty="0">
                <a:solidFill>
                  <a:srgbClr val="FFFFFF"/>
                </a:solidFill>
                <a:latin typeface="Calibri"/>
              </a:rPr>
              <a:t> </a:t>
            </a:r>
            <a:r>
              <a:rPr sz="1250" b="0" i="0" dirty="0" err="1">
                <a:solidFill>
                  <a:srgbClr val="FFFFFF"/>
                </a:solidFill>
                <a:latin typeface="Calibri"/>
              </a:rPr>
              <a:t>depuis</a:t>
            </a:r>
            <a:r>
              <a:rPr sz="1250" b="0" i="0" dirty="0">
                <a:solidFill>
                  <a:srgbClr val="FFFFFF"/>
                </a:solidFill>
                <a:latin typeface="Calibri"/>
              </a:rPr>
              <a:t> les </a:t>
            </a:r>
            <a:r>
              <a:rPr sz="1250" b="0" i="0" dirty="0" err="1">
                <a:solidFill>
                  <a:srgbClr val="FFFFFF"/>
                </a:solidFill>
                <a:latin typeface="Calibri"/>
              </a:rPr>
              <a:t>données</a:t>
            </a:r>
            <a:r>
              <a:rPr sz="1250" b="0" i="0" dirty="0">
                <a:solidFill>
                  <a:srgbClr val="FFFFFF"/>
                </a:solidFill>
                <a:latin typeface="Calibri"/>
              </a:rPr>
              <a:t>.</a:t>
            </a:r>
          </a:p>
        </p:txBody>
      </p:sp>
      <p:sp>
        <p:nvSpPr>
          <p:cNvPr id="11" name="Rounded Rectangle 10"/>
          <p:cNvSpPr/>
          <p:nvPr/>
        </p:nvSpPr>
        <p:spPr>
          <a:xfrm>
            <a:off x="8010144" y="1828800"/>
            <a:ext cx="3538728" cy="3383280"/>
          </a:xfrm>
          <a:prstGeom prst="roundRect">
            <a:avLst>
              <a:gd name="adj" fmla="val 6000"/>
            </a:avLst>
          </a:prstGeom>
          <a:solidFill>
            <a:srgbClr val="0C6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84464" y="2057400"/>
            <a:ext cx="2990088" cy="365760"/>
          </a:xfrm>
          <a:prstGeom prst="rect">
            <a:avLst/>
          </a:prstGeom>
          <a:noFill/>
        </p:spPr>
        <p:txBody>
          <a:bodyPr wrap="square" lIns="0" tIns="0" rIns="0" bIns="0" anchor="t">
            <a:spAutoFit/>
          </a:bodyPr>
          <a:lstStyle/>
          <a:p>
            <a:pPr algn="l">
              <a:lnSpc>
                <a:spcPct val="102000"/>
              </a:lnSpc>
              <a:spcBef>
                <a:spcPts val="0"/>
              </a:spcBef>
              <a:spcAft>
                <a:spcPts val="400"/>
              </a:spcAft>
            </a:pPr>
            <a:r>
              <a:rPr sz="1300" b="1" i="0">
                <a:solidFill>
                  <a:srgbClr val="FFCE00"/>
                </a:solidFill>
                <a:latin typeface="Calibri"/>
              </a:rPr>
              <a:t>LIMITES ASSUMÉES</a:t>
            </a:r>
          </a:p>
        </p:txBody>
      </p:sp>
      <p:sp>
        <p:nvSpPr>
          <p:cNvPr id="13" name="TextBox 12"/>
          <p:cNvSpPr txBox="1"/>
          <p:nvPr/>
        </p:nvSpPr>
        <p:spPr>
          <a:xfrm>
            <a:off x="8284464" y="2514600"/>
            <a:ext cx="2990088" cy="2560320"/>
          </a:xfrm>
          <a:prstGeom prst="rect">
            <a:avLst/>
          </a:prstGeom>
          <a:noFill/>
        </p:spPr>
        <p:txBody>
          <a:bodyPr wrap="square" lIns="0" tIns="0" rIns="0" bIns="0" anchor="t">
            <a:spAutoFit/>
          </a:bodyPr>
          <a:lstStyle/>
          <a:p>
            <a:pPr algn="l">
              <a:lnSpc>
                <a:spcPct val="108000"/>
              </a:lnSpc>
              <a:spcBef>
                <a:spcPts val="0"/>
              </a:spcBef>
              <a:spcAft>
                <a:spcPts val="1000"/>
              </a:spcAft>
            </a:pPr>
            <a:r>
              <a:rPr sz="1250" b="1" i="0">
                <a:solidFill>
                  <a:srgbClr val="FFCE00"/>
                </a:solidFill>
                <a:latin typeface="Calibri"/>
              </a:rPr>
              <a:t>•  </a:t>
            </a:r>
            <a:r>
              <a:rPr sz="1250" b="0" i="0">
                <a:solidFill>
                  <a:srgbClr val="FFFFFF"/>
                </a:solidFill>
                <a:latin typeface="Calibri"/>
              </a:rPr>
              <a:t>Accès électricité, cuisson et émissions : données nationales, non déclinées par région.</a:t>
            </a:r>
          </a:p>
          <a:p>
            <a:pPr algn="l">
              <a:lnSpc>
                <a:spcPct val="108000"/>
              </a:lnSpc>
              <a:spcBef>
                <a:spcPts val="0"/>
              </a:spcBef>
              <a:spcAft>
                <a:spcPts val="1000"/>
              </a:spcAft>
            </a:pPr>
            <a:r>
              <a:rPr sz="1250" b="1" i="0">
                <a:solidFill>
                  <a:srgbClr val="FFCE00"/>
                </a:solidFill>
                <a:latin typeface="Calibri"/>
              </a:rPr>
              <a:t>•  </a:t>
            </a:r>
            <a:r>
              <a:rPr sz="1250" b="0" i="0">
                <a:solidFill>
                  <a:srgbClr val="FFFFFF"/>
                </a:solidFill>
                <a:latin typeface="Calibri"/>
              </a:rPr>
              <a:t>Températures : 10 villes, série courte 2013-2019.</a:t>
            </a:r>
          </a:p>
        </p:txBody>
      </p:sp>
      <p:sp>
        <p:nvSpPr>
          <p:cNvPr id="14" name="TextBox 13"/>
          <p:cNvSpPr txBox="1"/>
          <p:nvPr/>
        </p:nvSpPr>
        <p:spPr>
          <a:xfrm>
            <a:off x="640080" y="5623560"/>
            <a:ext cx="8686800" cy="822960"/>
          </a:xfrm>
          <a:prstGeom prst="rect">
            <a:avLst/>
          </a:prstGeom>
          <a:noFill/>
        </p:spPr>
        <p:txBody>
          <a:bodyPr wrap="square" lIns="0" tIns="0" rIns="0" bIns="0" anchor="ctr">
            <a:spAutoFit/>
          </a:bodyPr>
          <a:lstStyle/>
          <a:p>
            <a:pPr algn="l">
              <a:lnSpc>
                <a:spcPct val="105000"/>
              </a:lnSpc>
              <a:spcBef>
                <a:spcPts val="0"/>
              </a:spcBef>
              <a:spcAft>
                <a:spcPts val="400"/>
              </a:spcAft>
            </a:pPr>
            <a:r>
              <a:rPr sz="1900" b="1" i="0">
                <a:solidFill>
                  <a:srgbClr val="FFCE00"/>
                </a:solidFill>
                <a:latin typeface="Cambria"/>
              </a:rPr>
              <a:t>Électrifier sans déforester</a:t>
            </a:r>
            <a:r>
              <a:rPr sz="1600" b="0" i="0">
                <a:solidFill>
                  <a:srgbClr val="FFFFFF"/>
                </a:solidFill>
                <a:latin typeface="Calibri"/>
              </a:rPr>
              <a:t> : une politique d'équité, de santé et de climat à la fois.</a:t>
            </a:r>
          </a:p>
        </p:txBody>
      </p:sp>
      <p:sp>
        <p:nvSpPr>
          <p:cNvPr id="15" name="TextBox 14"/>
          <p:cNvSpPr txBox="1"/>
          <p:nvPr/>
        </p:nvSpPr>
        <p:spPr>
          <a:xfrm>
            <a:off x="658368" y="6355080"/>
            <a:ext cx="10881360" cy="365760"/>
          </a:xfrm>
          <a:prstGeom prst="rect">
            <a:avLst/>
          </a:prstGeom>
          <a:noFill/>
        </p:spPr>
        <p:txBody>
          <a:bodyPr wrap="square" lIns="0" tIns="0" rIns="0" bIns="0" anchor="t">
            <a:spAutoFit/>
          </a:bodyPr>
          <a:lstStyle/>
          <a:p>
            <a:pPr algn="l">
              <a:lnSpc>
                <a:spcPct val="102000"/>
              </a:lnSpc>
              <a:spcBef>
                <a:spcPts val="0"/>
              </a:spcBef>
              <a:spcAft>
                <a:spcPts val="400"/>
              </a:spcAft>
            </a:pPr>
            <a:r>
              <a:rPr sz="1100" b="0" i="0">
                <a:solidFill>
                  <a:srgbClr val="9FC4AF"/>
                </a:solidFill>
                <a:latin typeface="Calibri"/>
              </a:rPr>
              <a:t>Bastou OURO-TAGBA  ·  Data Challenge Environnement · Défi 2  ·  Togo AI Lab / MESPTN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1015</Words>
  <Application>Microsoft Office PowerPoint</Application>
  <PresentationFormat>Grand écran</PresentationFormat>
  <Paragraphs>122</Paragraphs>
  <Slides>10</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10</vt:i4>
      </vt:variant>
    </vt:vector>
  </HeadingPairs>
  <TitlesOfParts>
    <vt:vector size="15" baseType="lpstr">
      <vt:lpstr>Arial</vt:lpstr>
      <vt:lpstr>Calibri</vt:lpstr>
      <vt:lpstr>Cambria</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Mr Brain</cp:lastModifiedBy>
  <cp:revision>2</cp:revision>
  <dcterms:created xsi:type="dcterms:W3CDTF">2013-01-27T09:14:16Z</dcterms:created>
  <dcterms:modified xsi:type="dcterms:W3CDTF">2026-08-30T15:04:14Z</dcterms:modified>
  <cp:category/>
</cp:coreProperties>
</file>